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DB79-CC4C-4512-9466-76B8A62DF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82E6B-1AEB-4AD1-8B78-8DA2F31E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9DB1C-AAEA-49F3-ABCB-921C5EDCAB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8FA0C-D919-47CD-89D6-3A197E921B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899B-7CDC-4543-BA31-8424548493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2987-EC56-41F4-9783-168B5CAD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89EC-9524-4463-9AA0-788CD4AEE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D02DD-F0C4-4E09-A8F6-E907DF1729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EF495-3A07-40B7-80F0-A8B5E6BE4A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FC5A2-C668-4136-8FF6-05ADDE19AB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ADB5E-AEF1-4B17-9149-B9DD3C72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EAD1D-EB92-4851-BE56-FA891AA7F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A760-8952-468C-AFD2-C60CD3B564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D9493-AF6D-48E1-A046-2BA5A47BDE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60A41-E163-470A-94C7-831F604CF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CDCA-815F-4511-9E0D-D73AE0F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4813-DD65-46B7-BBA0-2212411AB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19BA-2E72-4199-901C-51763B3D75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57D07-8F62-48BD-8940-A6FC6A5874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B8A96-7AA5-4AE1-9F63-BB45528DD8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7CB63-F92D-4230-9023-A226831F2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2582-92BA-4C0F-86C2-1E5FD09B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B3065-5617-4583-A716-D6563310A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93169-9175-4187-A87A-DAE50E9318E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6BE23-533C-4FC2-A432-E3F8C4978DE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936AF-1AA1-4243-99DB-C4725471D7C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10C7A-9216-431F-AB5C-593E7DE636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FB880-2884-4195-BF1F-CCFE9E918C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C915AB-E288-4F88-BD3D-272B2C05C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4086-9B88-4603-B4ED-D985473D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22C3E-5589-4820-8F11-DC55EC4888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84B84-8788-41BF-A783-7A009337AA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3EB6B-CB38-4AA5-96F2-190AFD45A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5BCCE-B986-47E5-B806-99F936244C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7A591-3CE5-4698-A312-B99C7A190A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17067-3CB3-4621-BD11-CFAA48654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73C43-D9BB-4417-8DDD-A6738496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BBB9-D920-4C56-BB65-8B79DE990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09CE8-E7A3-4B71-8C04-46E7E72889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C9934-248C-4C03-8BDE-61C7FF1EA9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04850-E33C-4605-B136-203583AB60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A5BB4-84B8-4A8D-8B65-964898981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36B7-2050-4745-8AD4-6CF1DABD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4FA959-9848-44D5-B6F8-3D22F6498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5C65-3486-456B-9460-2C6E8A81D9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5F090-909F-4425-BF72-A283EADAE3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7E6C8-A830-42C5-B86E-9064F706D1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8B7B8-2038-4194-BB6F-991D51955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85D7-5434-4DDB-B7B6-A83F2483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7BF57-4330-4A40-9D4A-E167E2877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28597-AF2B-4934-ACCC-BCD53CB650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F3A6B-5405-406F-8F0B-C254BBF134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83FA5-03CA-433A-9C1B-BC8E5CCF53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12E84-8A49-4EC2-A5F1-01778A4A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E5CB2-8A9A-4B88-96C9-DE99C5A9F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E88DB-B0BE-4B04-9C7E-F4FAF75D3D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8A4E-0C4A-488F-A7F5-E8866FDF72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50A0-E99E-4702-8D80-891851850B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4F1C1-1FFC-4F49-9355-C6356DAF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B8950-E33F-4539-B13F-D6266A6B6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C2E3-56C3-4FD3-95F1-EFD138E30A6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A6C3-A485-4C59-97C4-611375DEBB6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8C787-C1D0-404C-A5B4-020D1FF3D1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F3644-4C8F-47CC-953D-A441CAA3EF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26467E-FFA5-43C8-9B5B-6041CB34B6B3}"/>
              </a:ext>
            </a:extLst>
          </p:cNvPr>
          <p:cNvSpPr>
            <a:spLocks noGrp="1"/>
          </p:cNvSpPr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73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5FABD8-280E-4FB5-9082-B51E6C9589B7}"/>
              </a:ext>
            </a:extLst>
          </p:cNvPr>
          <p:cNvSpPr>
            <a:spLocks noGrp="1"/>
          </p:cNvSpPr>
          <p:nvPr/>
        </p:nvSpPr>
        <p:spPr>
          <a:xfrm>
            <a:off x="8503920" y="731520"/>
            <a:ext cx="1280160" cy="1280160"/>
          </a:xfrm>
          <a:prstGeom prst="ellipse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D274C-C54D-410C-82E9-02B31B5FCCA9}"/>
              </a:ext>
            </a:extLst>
          </p:cNvPr>
          <p:cNvSpPr>
            <a:spLocks noGrp="1"/>
          </p:cNvSpPr>
          <p:nvPr/>
        </p:nvSpPr>
        <p:spPr>
          <a:xfrm>
            <a:off x="8503920" y="740664"/>
            <a:ext cx="12801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FA6EA0-5F24-4DC7-B386-618EAC57EFDA}"/>
              </a:ext>
            </a:extLst>
          </p:cNvPr>
          <p:cNvSpPr>
            <a:spLocks noGrp="1"/>
          </p:cNvSpPr>
          <p:nvPr/>
        </p:nvSpPr>
        <p:spPr>
          <a:xfrm>
            <a:off x="10058400" y="1554480"/>
            <a:ext cx="685800" cy="68580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6161E-A464-41AD-AA74-424E77958C7D}"/>
              </a:ext>
            </a:extLst>
          </p:cNvPr>
          <p:cNvSpPr>
            <a:spLocks noGrp="1"/>
          </p:cNvSpPr>
          <p:nvPr/>
        </p:nvSpPr>
        <p:spPr>
          <a:xfrm>
            <a:off x="10058400" y="1563624"/>
            <a:ext cx="6858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98EC8D-1F22-4760-B78A-A782CE21B1D6}"/>
              </a:ext>
            </a:extLst>
          </p:cNvPr>
          <p:cNvSpPr>
            <a:spLocks noGrp="1"/>
          </p:cNvSpPr>
          <p:nvPr/>
        </p:nvSpPr>
        <p:spPr>
          <a:xfrm>
            <a:off x="9144000" y="2834640"/>
            <a:ext cx="2011680" cy="2011680"/>
          </a:xfrm>
          <a:prstGeom prst="ellipse">
            <a:avLst/>
          </a:prstGeom>
          <a:solidFill>
            <a:srgbClr val="D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EA507-96A0-4B6D-8BD2-F3326DF73F12}"/>
              </a:ext>
            </a:extLst>
          </p:cNvPr>
          <p:cNvSpPr>
            <a:spLocks noGrp="1"/>
          </p:cNvSpPr>
          <p:nvPr/>
        </p:nvSpPr>
        <p:spPr>
          <a:xfrm>
            <a:off x="9144000" y="2843784"/>
            <a:ext cx="2011680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A3E4C2-9897-48D1-A2FA-C2F07BF17D3C}"/>
              </a:ext>
            </a:extLst>
          </p:cNvPr>
          <p:cNvSpPr>
            <a:spLocks noGrp="1"/>
          </p:cNvSpPr>
          <p:nvPr/>
        </p:nvSpPr>
        <p:spPr>
          <a:xfrm>
            <a:off x="10561320" y="4206240"/>
            <a:ext cx="914400" cy="914400"/>
          </a:xfrm>
          <a:prstGeom prst="ellipse">
            <a:avLst/>
          </a:prstGeom>
          <a:solidFill>
            <a:srgbClr val="7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86E6E-DCB4-4773-AF9C-E020F49146B4}"/>
              </a:ext>
            </a:extLst>
          </p:cNvPr>
          <p:cNvSpPr>
            <a:spLocks noGrp="1"/>
          </p:cNvSpPr>
          <p:nvPr/>
        </p:nvSpPr>
        <p:spPr>
          <a:xfrm>
            <a:off x="10561320" y="4215383"/>
            <a:ext cx="914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424F8B-F073-44E3-9616-03579DA93A5E}"/>
              </a:ext>
            </a:extLst>
          </p:cNvPr>
          <p:cNvSpPr>
            <a:spLocks noGrp="1"/>
          </p:cNvSpPr>
          <p:nvPr/>
        </p:nvSpPr>
        <p:spPr>
          <a:xfrm>
            <a:off x="8412480" y="5029200"/>
            <a:ext cx="640080" cy="64008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E5698-82F7-443E-A38D-64150771B9C9}"/>
              </a:ext>
            </a:extLst>
          </p:cNvPr>
          <p:cNvSpPr>
            <a:spLocks noGrp="1"/>
          </p:cNvSpPr>
          <p:nvPr/>
        </p:nvSpPr>
        <p:spPr>
          <a:xfrm>
            <a:off x="8412480" y="50383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609CE-E00D-46DC-8A69-439B717802A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DATA ENGINEERING • GROCERY ANALYTICS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6F9B4-C14D-443E-9EE9-355D3D41DA5B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68580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 Retail Analytics Pipeline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766DDE-7E0C-4974-A15B-D4CE5FC19462}"/>
              </a:ext>
            </a:extLst>
          </p:cNvPr>
          <p:cNvSpPr>
            <a:spLocks noGrp="1"/>
          </p:cNvSpPr>
          <p:nvPr/>
        </p:nvSpPr>
        <p:spPr>
          <a:xfrm>
            <a:off x="713232" y="278892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7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From raw retail data to trusted sales, inventory and customer insights.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D5F1B0F-14D7-4673-AAD3-BE4C9279E55A}"/>
              </a:ext>
            </a:extLst>
          </p:cNvPr>
          <p:cNvSpPr>
            <a:spLocks noGrp="1"/>
          </p:cNvSpPr>
          <p:nvPr/>
        </p:nvSpPr>
        <p:spPr>
          <a:xfrm>
            <a:off x="71323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1E6578-5AB7-4A66-8459-EB22047A0487}"/>
              </a:ext>
            </a:extLst>
          </p:cNvPr>
          <p:cNvSpPr>
            <a:spLocks noGrp="1"/>
          </p:cNvSpPr>
          <p:nvPr/>
        </p:nvSpPr>
        <p:spPr>
          <a:xfrm>
            <a:off x="713232" y="3977639"/>
            <a:ext cx="73152" cy="91440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59FDF-E540-4ADF-BEEB-50CF209C421D}"/>
              </a:ext>
            </a:extLst>
          </p:cNvPr>
          <p:cNvSpPr>
            <a:spLocks noGrp="1"/>
          </p:cNvSpPr>
          <p:nvPr/>
        </p:nvSpPr>
        <p:spPr>
          <a:xfrm>
            <a:off x="914400" y="4142231"/>
            <a:ext cx="1207007" cy="335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ADLS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DF468F-EDAC-425F-9474-F0CCF6B0D14E}"/>
              </a:ext>
            </a:extLst>
          </p:cNvPr>
          <p:cNvSpPr>
            <a:spLocks noGrp="1"/>
          </p:cNvSpPr>
          <p:nvPr/>
        </p:nvSpPr>
        <p:spPr>
          <a:xfrm>
            <a:off x="91440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FBB8D5A-9841-4F43-AC85-CC5E33E04D55}"/>
              </a:ext>
            </a:extLst>
          </p:cNvPr>
          <p:cNvSpPr>
            <a:spLocks noGrp="1"/>
          </p:cNvSpPr>
          <p:nvPr/>
        </p:nvSpPr>
        <p:spPr>
          <a:xfrm>
            <a:off x="249631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9532F-D2DD-4F8C-B504-865BF1EDD896}"/>
              </a:ext>
            </a:extLst>
          </p:cNvPr>
          <p:cNvSpPr>
            <a:spLocks noGrp="1"/>
          </p:cNvSpPr>
          <p:nvPr/>
        </p:nvSpPr>
        <p:spPr>
          <a:xfrm>
            <a:off x="2496312" y="3977639"/>
            <a:ext cx="73152" cy="91440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F4E2E0-7BE7-4E17-981E-BAA007566225}"/>
              </a:ext>
            </a:extLst>
          </p:cNvPr>
          <p:cNvSpPr>
            <a:spLocks noGrp="1"/>
          </p:cNvSpPr>
          <p:nvPr/>
        </p:nvSpPr>
        <p:spPr>
          <a:xfrm>
            <a:off x="269748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Databricks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BF975C-4F02-4519-9314-732F19CD3123}"/>
              </a:ext>
            </a:extLst>
          </p:cNvPr>
          <p:cNvSpPr>
            <a:spLocks noGrp="1"/>
          </p:cNvSpPr>
          <p:nvPr/>
        </p:nvSpPr>
        <p:spPr>
          <a:xfrm>
            <a:off x="269748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4044442-22ED-4FE8-8FEE-82D536D2276A}"/>
              </a:ext>
            </a:extLst>
          </p:cNvPr>
          <p:cNvSpPr>
            <a:spLocks noGrp="1"/>
          </p:cNvSpPr>
          <p:nvPr/>
        </p:nvSpPr>
        <p:spPr>
          <a:xfrm>
            <a:off x="427939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443973-0B46-489A-AC1D-B637D5971127}"/>
              </a:ext>
            </a:extLst>
          </p:cNvPr>
          <p:cNvSpPr>
            <a:spLocks noGrp="1"/>
          </p:cNvSpPr>
          <p:nvPr/>
        </p:nvSpPr>
        <p:spPr>
          <a:xfrm>
            <a:off x="4279392" y="3977639"/>
            <a:ext cx="73152" cy="91440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B6C423-43D4-4729-8667-AA86F8E47D76}"/>
              </a:ext>
            </a:extLst>
          </p:cNvPr>
          <p:cNvSpPr>
            <a:spLocks noGrp="1"/>
          </p:cNvSpPr>
          <p:nvPr/>
        </p:nvSpPr>
        <p:spPr>
          <a:xfrm>
            <a:off x="4480559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Delta Lake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A788F-7D48-4F50-ACD1-898145144007}"/>
              </a:ext>
            </a:extLst>
          </p:cNvPr>
          <p:cNvSpPr>
            <a:spLocks noGrp="1"/>
          </p:cNvSpPr>
          <p:nvPr/>
        </p:nvSpPr>
        <p:spPr>
          <a:xfrm>
            <a:off x="4480559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7DCCD71-B9AD-4EA3-9049-5457EAD997B5}"/>
              </a:ext>
            </a:extLst>
          </p:cNvPr>
          <p:cNvSpPr>
            <a:spLocks noGrp="1"/>
          </p:cNvSpPr>
          <p:nvPr/>
        </p:nvSpPr>
        <p:spPr>
          <a:xfrm>
            <a:off x="606247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9F76ED-B46A-4711-80CE-31A26A304394}"/>
              </a:ext>
            </a:extLst>
          </p:cNvPr>
          <p:cNvSpPr>
            <a:spLocks noGrp="1"/>
          </p:cNvSpPr>
          <p:nvPr/>
        </p:nvSpPr>
        <p:spPr>
          <a:xfrm>
            <a:off x="6062472" y="3977639"/>
            <a:ext cx="73152" cy="914400"/>
          </a:xfrm>
          <a:prstGeom prst="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C677B1-01F5-4340-B32A-2F7F57442BDA}"/>
              </a:ext>
            </a:extLst>
          </p:cNvPr>
          <p:cNvSpPr>
            <a:spLocks noGrp="1"/>
          </p:cNvSpPr>
          <p:nvPr/>
        </p:nvSpPr>
        <p:spPr>
          <a:xfrm>
            <a:off x="626364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Airflow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4426C5-0CF3-48A9-AE74-4E6FDAF64208}"/>
              </a:ext>
            </a:extLst>
          </p:cNvPr>
          <p:cNvSpPr>
            <a:spLocks noGrp="1"/>
          </p:cNvSpPr>
          <p:nvPr/>
        </p:nvSpPr>
        <p:spPr>
          <a:xfrm>
            <a:off x="626364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1BE4CA-DCE7-449C-A91A-455847C3E79C}"/>
              </a:ext>
            </a:extLst>
          </p:cNvPr>
          <p:cNvSpPr>
            <a:spLocks noGrp="1"/>
          </p:cNvSpPr>
          <p:nvPr/>
        </p:nvSpPr>
        <p:spPr>
          <a:xfrm>
            <a:off x="731520" y="58064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Daily batch • Data Quality • Medallion Architecture • Alerts</a:t>
            </a:r>
          </a:p>
        </p:txBody>
      </p:sp>
    </p:spTree>
    <p:extLst>
      <p:ext uri="{BB962C8B-B14F-4D97-AF65-F5344CB8AC3E}">
        <p14:creationId xmlns:p14="http://schemas.microsoft.com/office/powerpoint/2010/main" val="204857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D18F58-7A54-432F-85FD-B5975F0124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520E2-FD49-4CE5-83E7-A7F3FDA4C701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01 •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196C2-3FCE-4927-82F5-1EA65F939B57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Project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4AD1F-9634-4514-B632-D03DECD71887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0009A-5696-49EE-8545-961F196219F7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572B4A-BE41-4F3D-AC57-4DC08D7CA7C9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6BF39-29A2-44C3-A7AE-BEBC1F78F1F1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425DC-EB06-4AD2-A04D-CB685E0EEF26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E0CE8-083B-493B-88C4-218535035C45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304495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Kaggle Heart Disease Dataset / transaction health records delivered as CSV files.
Raw path pattern: abfss://bucket/raw/grocery_records/YYYY/MM/DD/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5AB4172-290A-40E4-9911-19BBE0ADFEEF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6E3666-630E-4461-8424-8BA1BC3499F0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73152" cy="192024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7917CC-C71F-4A5C-9C38-B9287062789A}"/>
              </a:ext>
            </a:extLst>
          </p:cNvPr>
          <p:cNvSpPr>
            <a:spLocks noGrp="1"/>
          </p:cNvSpPr>
          <p:nvPr/>
        </p:nvSpPr>
        <p:spPr>
          <a:xfrm>
            <a:off x="4572000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PROCESSING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D47653-2B32-4B29-AD2B-AD6AD04AA354}"/>
              </a:ext>
            </a:extLst>
          </p:cNvPr>
          <p:cNvSpPr>
            <a:spLocks noGrp="1"/>
          </p:cNvSpPr>
          <p:nvPr/>
        </p:nvSpPr>
        <p:spPr>
          <a:xfrm>
            <a:off x="4572000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Databricks + PySpark process grocery data through Bronze, Silver and Gold Delta layers.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05338B9-2CCE-412F-872E-C2D4082E2108}"/>
              </a:ext>
            </a:extLst>
          </p:cNvPr>
          <p:cNvSpPr>
            <a:spLocks noGrp="1"/>
          </p:cNvSpPr>
          <p:nvPr/>
        </p:nvSpPr>
        <p:spPr>
          <a:xfrm>
            <a:off x="8101583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C5C8DB-750F-419F-A0CE-179DE8CEEB2E}"/>
              </a:ext>
            </a:extLst>
          </p:cNvPr>
          <p:cNvSpPr>
            <a:spLocks noGrp="1"/>
          </p:cNvSpPr>
          <p:nvPr/>
        </p:nvSpPr>
        <p:spPr>
          <a:xfrm>
            <a:off x="8101583" y="1417320"/>
            <a:ext cx="73152" cy="192024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58130A-0ED1-41B4-A232-6E3A46AF2F08}"/>
              </a:ext>
            </a:extLst>
          </p:cNvPr>
          <p:cNvSpPr>
            <a:spLocks noGrp="1"/>
          </p:cNvSpPr>
          <p:nvPr/>
        </p:nvSpPr>
        <p:spPr>
          <a:xfrm>
            <a:off x="8302752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CONSUMPTION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4E4FD8-0F08-4C34-9282-60A6D44C3CE7}"/>
              </a:ext>
            </a:extLst>
          </p:cNvPr>
          <p:cNvSpPr>
            <a:spLocks noGrp="1"/>
          </p:cNvSpPr>
          <p:nvPr/>
        </p:nvSpPr>
        <p:spPr>
          <a:xfrm>
            <a:off x="8302752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Gold datasets power category, sales and inventory analytics with dashboards and alerts.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BFEFE-7BAE-44F1-BFAD-A32AEEB38A6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The pipeline is designed for reliable daily processing with validation, error handling and orchestration.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45E318-5731-49E4-B3A1-056A162C7C10}"/>
              </a:ext>
            </a:extLst>
          </p:cNvPr>
          <p:cNvSpPr>
            <a:spLocks noGrp="1"/>
          </p:cNvSpPr>
          <p:nvPr/>
        </p:nvSpPr>
        <p:spPr>
          <a:xfrm>
            <a:off x="777240" y="4572000"/>
            <a:ext cx="566928" cy="566928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D1FFC-9506-477B-8CE6-6FC31E09ABD0}"/>
              </a:ext>
            </a:extLst>
          </p:cNvPr>
          <p:cNvSpPr>
            <a:spLocks noGrp="1"/>
          </p:cNvSpPr>
          <p:nvPr/>
        </p:nvSpPr>
        <p:spPr>
          <a:xfrm>
            <a:off x="777240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F82BED-DA39-4C56-9C8D-E38D9D82EC15}"/>
              </a:ext>
            </a:extLst>
          </p:cNvPr>
          <p:cNvSpPr>
            <a:spLocks noGrp="1"/>
          </p:cNvSpPr>
          <p:nvPr/>
        </p:nvSpPr>
        <p:spPr>
          <a:xfrm>
            <a:off x="149047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INGEST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8FE2D-54BB-423D-8CF7-6842CEE06269}"/>
              </a:ext>
            </a:extLst>
          </p:cNvPr>
          <p:cNvSpPr>
            <a:spLocks noGrp="1"/>
          </p:cNvSpPr>
          <p:nvPr/>
        </p:nvSpPr>
        <p:spPr>
          <a:xfrm>
            <a:off x="149047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Capture retail data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4F998C4-2125-4CA9-9E8D-F2BFC3489FB8}"/>
              </a:ext>
            </a:extLst>
          </p:cNvPr>
          <p:cNvSpPr>
            <a:spLocks noGrp="1"/>
          </p:cNvSpPr>
          <p:nvPr/>
        </p:nvSpPr>
        <p:spPr>
          <a:xfrm>
            <a:off x="3566160" y="4572000"/>
            <a:ext cx="566928" cy="566928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1B9F57-CB30-4F7B-AC34-903BFF0A165D}"/>
              </a:ext>
            </a:extLst>
          </p:cNvPr>
          <p:cNvSpPr>
            <a:spLocks noGrp="1"/>
          </p:cNvSpPr>
          <p:nvPr/>
        </p:nvSpPr>
        <p:spPr>
          <a:xfrm>
            <a:off x="3566160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A603B1-5FC4-469C-9F67-9278578CD958}"/>
              </a:ext>
            </a:extLst>
          </p:cNvPr>
          <p:cNvSpPr>
            <a:spLocks noGrp="1"/>
          </p:cNvSpPr>
          <p:nvPr/>
        </p:nvSpPr>
        <p:spPr>
          <a:xfrm>
            <a:off x="427939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CLEAN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1BEF71-BC84-407A-849D-F16766EE5744}"/>
              </a:ext>
            </a:extLst>
          </p:cNvPr>
          <p:cNvSpPr>
            <a:spLocks noGrp="1"/>
          </p:cNvSpPr>
          <p:nvPr/>
        </p:nvSpPr>
        <p:spPr>
          <a:xfrm>
            <a:off x="427939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Standardize &amp; validate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A25E822-A272-4E60-83A9-6CED5721ABDA}"/>
              </a:ext>
            </a:extLst>
          </p:cNvPr>
          <p:cNvSpPr>
            <a:spLocks noGrp="1"/>
          </p:cNvSpPr>
          <p:nvPr/>
        </p:nvSpPr>
        <p:spPr>
          <a:xfrm>
            <a:off x="6355079" y="4572000"/>
            <a:ext cx="566928" cy="566928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75120D-1989-4C97-A76B-38F8CDCAF333}"/>
              </a:ext>
            </a:extLst>
          </p:cNvPr>
          <p:cNvSpPr>
            <a:spLocks noGrp="1"/>
          </p:cNvSpPr>
          <p:nvPr/>
        </p:nvSpPr>
        <p:spPr>
          <a:xfrm>
            <a:off x="6355079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746BBE-576F-4960-87D8-E80AD4288820}"/>
              </a:ext>
            </a:extLst>
          </p:cNvPr>
          <p:cNvSpPr>
            <a:spLocks noGrp="1"/>
          </p:cNvSpPr>
          <p:nvPr/>
        </p:nvSpPr>
        <p:spPr>
          <a:xfrm>
            <a:off x="706831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ANALYZE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169169-5086-4559-A955-D6143DE96256}"/>
              </a:ext>
            </a:extLst>
          </p:cNvPr>
          <p:cNvSpPr>
            <a:spLocks noGrp="1"/>
          </p:cNvSpPr>
          <p:nvPr/>
        </p:nvSpPr>
        <p:spPr>
          <a:xfrm>
            <a:off x="706831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Calculate sales metrics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CA64ED-0D0F-4133-834D-B277E7571F29}"/>
              </a:ext>
            </a:extLst>
          </p:cNvPr>
          <p:cNvSpPr>
            <a:spLocks noGrp="1"/>
          </p:cNvSpPr>
          <p:nvPr/>
        </p:nvSpPr>
        <p:spPr>
          <a:xfrm>
            <a:off x="9143999" y="4572000"/>
            <a:ext cx="566928" cy="566928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148202-270A-4269-A3DF-69685BB1232C}"/>
              </a:ext>
            </a:extLst>
          </p:cNvPr>
          <p:cNvSpPr>
            <a:spLocks noGrp="1"/>
          </p:cNvSpPr>
          <p:nvPr/>
        </p:nvSpPr>
        <p:spPr>
          <a:xfrm>
            <a:off x="9143999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B677D-A030-4ED8-8381-B6BAC41FF1C9}"/>
              </a:ext>
            </a:extLst>
          </p:cNvPr>
          <p:cNvSpPr>
            <a:spLocks noGrp="1"/>
          </p:cNvSpPr>
          <p:nvPr/>
        </p:nvSpPr>
        <p:spPr>
          <a:xfrm>
            <a:off x="9857231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MONITOR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9A2572-523B-4FD8-A6C7-49D6281C0288}"/>
              </a:ext>
            </a:extLst>
          </p:cNvPr>
          <p:cNvSpPr>
            <a:spLocks noGrp="1"/>
          </p:cNvSpPr>
          <p:nvPr/>
        </p:nvSpPr>
        <p:spPr>
          <a:xfrm>
            <a:off x="9857231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Alert &amp; troubleshoot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500A12-5694-4E33-8B14-7487E3276A44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7C1E7C-9B46-4FC5-B3E3-ABF221988CD1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5875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388D3A-8F09-41E4-A071-53EAA6CF2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711B2-F09A-4B88-957E-35B34D0A5B8A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02 •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A0E1F-3E8D-4911-AC4C-2CB225DD8AB8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What the solution achieves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109FC-55B5-4B97-88CC-A61D88E827AA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5E702-C72B-409F-8466-5594A3CE096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F40DC3-0EEE-4EB5-B24D-7B78C1F7C72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829F6E-8A8F-44FB-8753-56A87F414CCD}"/>
              </a:ext>
            </a:extLst>
          </p:cNvPr>
          <p:cNvSpPr>
            <a:spLocks noGrp="1"/>
          </p:cNvSpPr>
          <p:nvPr/>
        </p:nvSpPr>
        <p:spPr>
          <a:xfrm>
            <a:off x="841247" y="1618488"/>
            <a:ext cx="530352" cy="53035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FE0C7F-BE72-4911-B71A-0930F09D894A}"/>
              </a:ext>
            </a:extLst>
          </p:cNvPr>
          <p:cNvSpPr>
            <a:spLocks noGrp="1"/>
          </p:cNvSpPr>
          <p:nvPr/>
        </p:nvSpPr>
        <p:spPr>
          <a:xfrm>
            <a:off x="841247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A49F3-47C0-412F-8F61-D5E358FF550B}"/>
              </a:ext>
            </a:extLst>
          </p:cNvPr>
          <p:cNvSpPr>
            <a:spLocks noGrp="1"/>
          </p:cNvSpPr>
          <p:nvPr/>
        </p:nvSpPr>
        <p:spPr>
          <a:xfrm>
            <a:off x="150876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Reliable ingestion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C30E9-CC21-4606-8E6F-92FA86CA4F2A}"/>
              </a:ext>
            </a:extLst>
          </p:cNvPr>
          <p:cNvSpPr>
            <a:spLocks noGrp="1"/>
          </p:cNvSpPr>
          <p:nvPr/>
        </p:nvSpPr>
        <p:spPr>
          <a:xfrm>
            <a:off x="150876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Bring retail transactions and reference files into ADLS with controlled ingestion.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627583-32F8-4197-A8F7-619A142F9865}"/>
              </a:ext>
            </a:extLst>
          </p:cNvPr>
          <p:cNvSpPr>
            <a:spLocks noGrp="1"/>
          </p:cNvSpPr>
          <p:nvPr/>
        </p:nvSpPr>
        <p:spPr>
          <a:xfrm>
            <a:off x="443484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212729D-25F3-466B-854A-6C28A705F8B1}"/>
              </a:ext>
            </a:extLst>
          </p:cNvPr>
          <p:cNvSpPr>
            <a:spLocks noGrp="1"/>
          </p:cNvSpPr>
          <p:nvPr/>
        </p:nvSpPr>
        <p:spPr>
          <a:xfrm>
            <a:off x="4636008" y="1618488"/>
            <a:ext cx="530352" cy="53035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96A52-843C-4D1D-AD80-14F2D6C2CADE}"/>
              </a:ext>
            </a:extLst>
          </p:cNvPr>
          <p:cNvSpPr>
            <a:spLocks noGrp="1"/>
          </p:cNvSpPr>
          <p:nvPr/>
        </p:nvSpPr>
        <p:spPr>
          <a:xfrm>
            <a:off x="4636008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1B04D4-CC70-4066-BC32-10CA328E09D4}"/>
              </a:ext>
            </a:extLst>
          </p:cNvPr>
          <p:cNvSpPr>
            <a:spLocks noGrp="1"/>
          </p:cNvSpPr>
          <p:nvPr/>
        </p:nvSpPr>
        <p:spPr>
          <a:xfrm>
            <a:off x="530352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Medallion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9D50DF-6802-4BE9-AA21-C8BCF79481E0}"/>
              </a:ext>
            </a:extLst>
          </p:cNvPr>
          <p:cNvSpPr>
            <a:spLocks noGrp="1"/>
          </p:cNvSpPr>
          <p:nvPr/>
        </p:nvSpPr>
        <p:spPr>
          <a:xfrm>
            <a:off x="530352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Implement Bronze → Silver → Gold for progressively trusted data.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0C51C1-1EBC-4D0E-99DB-16F30D425585}"/>
              </a:ext>
            </a:extLst>
          </p:cNvPr>
          <p:cNvSpPr>
            <a:spLocks noGrp="1"/>
          </p:cNvSpPr>
          <p:nvPr/>
        </p:nvSpPr>
        <p:spPr>
          <a:xfrm>
            <a:off x="822960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5CE153-31C1-4AC9-9C11-158D2AE7024C}"/>
              </a:ext>
            </a:extLst>
          </p:cNvPr>
          <p:cNvSpPr>
            <a:spLocks noGrp="1"/>
          </p:cNvSpPr>
          <p:nvPr/>
        </p:nvSpPr>
        <p:spPr>
          <a:xfrm>
            <a:off x="8430768" y="1618488"/>
            <a:ext cx="530352" cy="530352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E54A88-4D9D-48F3-9119-6CFFC0333408}"/>
              </a:ext>
            </a:extLst>
          </p:cNvPr>
          <p:cNvSpPr>
            <a:spLocks noGrp="1"/>
          </p:cNvSpPr>
          <p:nvPr/>
        </p:nvSpPr>
        <p:spPr>
          <a:xfrm>
            <a:off x="8430768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9C29D3-C0DE-4050-9B6C-FF0AC9030FD1}"/>
              </a:ext>
            </a:extLst>
          </p:cNvPr>
          <p:cNvSpPr>
            <a:spLocks noGrp="1"/>
          </p:cNvSpPr>
          <p:nvPr/>
        </p:nvSpPr>
        <p:spPr>
          <a:xfrm>
            <a:off x="909828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 quality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5957E-51FC-4D12-8E17-B29C4F365585}"/>
              </a:ext>
            </a:extLst>
          </p:cNvPr>
          <p:cNvSpPr>
            <a:spLocks noGrp="1"/>
          </p:cNvSpPr>
          <p:nvPr/>
        </p:nvSpPr>
        <p:spPr>
          <a:xfrm>
            <a:off x="909828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Handle missing values, duplicates, invalid records and schema issues.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2563FDF-42A3-4772-BC34-2E2699D5E926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5A268-EB77-4E90-BAC6-AA9AD6258D1F}"/>
              </a:ext>
            </a:extLst>
          </p:cNvPr>
          <p:cNvSpPr>
            <a:spLocks noGrp="1"/>
          </p:cNvSpPr>
          <p:nvPr/>
        </p:nvSpPr>
        <p:spPr>
          <a:xfrm>
            <a:off x="841247" y="3767328"/>
            <a:ext cx="530352" cy="53035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73380-BF94-46CB-BB5C-E4BF46840CEA}"/>
              </a:ext>
            </a:extLst>
          </p:cNvPr>
          <p:cNvSpPr>
            <a:spLocks noGrp="1"/>
          </p:cNvSpPr>
          <p:nvPr/>
        </p:nvSpPr>
        <p:spPr>
          <a:xfrm>
            <a:off x="841247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5C96ED-6824-4B4B-B43A-AA1A4FEAF850}"/>
              </a:ext>
            </a:extLst>
          </p:cNvPr>
          <p:cNvSpPr>
            <a:spLocks noGrp="1"/>
          </p:cNvSpPr>
          <p:nvPr/>
        </p:nvSpPr>
        <p:spPr>
          <a:xfrm>
            <a:off x="1508760" y="37947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Sales Performance analytics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87D5B8-FE39-4898-990D-76DB19D6BEC3}"/>
              </a:ext>
            </a:extLst>
          </p:cNvPr>
          <p:cNvSpPr>
            <a:spLocks noGrp="1"/>
          </p:cNvSpPr>
          <p:nvPr/>
        </p:nvSpPr>
        <p:spPr>
          <a:xfrm>
            <a:off x="150876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Create sales, inventory and customer performance metrics.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40B4C6A-8264-4FEF-82AD-F2F4B5EF8512}"/>
              </a:ext>
            </a:extLst>
          </p:cNvPr>
          <p:cNvSpPr>
            <a:spLocks noGrp="1"/>
          </p:cNvSpPr>
          <p:nvPr/>
        </p:nvSpPr>
        <p:spPr>
          <a:xfrm>
            <a:off x="443484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EF29288-6876-432B-8FEB-3810CA6AF6F9}"/>
              </a:ext>
            </a:extLst>
          </p:cNvPr>
          <p:cNvSpPr>
            <a:spLocks noGrp="1"/>
          </p:cNvSpPr>
          <p:nvPr/>
        </p:nvSpPr>
        <p:spPr>
          <a:xfrm>
            <a:off x="4636008" y="3767328"/>
            <a:ext cx="530352" cy="530352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638C3F-AD9D-4F54-97BC-6C0C815FCBDB}"/>
              </a:ext>
            </a:extLst>
          </p:cNvPr>
          <p:cNvSpPr>
            <a:spLocks noGrp="1"/>
          </p:cNvSpPr>
          <p:nvPr/>
        </p:nvSpPr>
        <p:spPr>
          <a:xfrm>
            <a:off x="4636008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6D066D-B860-426A-86A9-0BDB30C1082C}"/>
              </a:ext>
            </a:extLst>
          </p:cNvPr>
          <p:cNvSpPr>
            <a:spLocks noGrp="1"/>
          </p:cNvSpPr>
          <p:nvPr/>
        </p:nvSpPr>
        <p:spPr>
          <a:xfrm>
            <a:off x="530352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Monitoring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86A6D6-0DE5-48F2-9CED-25A39BFF19AB}"/>
              </a:ext>
            </a:extLst>
          </p:cNvPr>
          <p:cNvSpPr>
            <a:spLocks noGrp="1"/>
          </p:cNvSpPr>
          <p:nvPr/>
        </p:nvSpPr>
        <p:spPr>
          <a:xfrm>
            <a:off x="530352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Use Slack alerts and logs for failures and anomalies.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24439D0-4336-4CDA-A302-0489E5A8128F}"/>
              </a:ext>
            </a:extLst>
          </p:cNvPr>
          <p:cNvSpPr>
            <a:spLocks noGrp="1"/>
          </p:cNvSpPr>
          <p:nvPr/>
        </p:nvSpPr>
        <p:spPr>
          <a:xfrm>
            <a:off x="822960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3E7359D-8AD6-4438-8A1D-35DA548833AE}"/>
              </a:ext>
            </a:extLst>
          </p:cNvPr>
          <p:cNvSpPr>
            <a:spLocks noGrp="1"/>
          </p:cNvSpPr>
          <p:nvPr/>
        </p:nvSpPr>
        <p:spPr>
          <a:xfrm>
            <a:off x="8430768" y="3767328"/>
            <a:ext cx="530352" cy="530352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7A2937-D209-4F4D-89F3-67A5BADF1DEF}"/>
              </a:ext>
            </a:extLst>
          </p:cNvPr>
          <p:cNvSpPr>
            <a:spLocks noGrp="1"/>
          </p:cNvSpPr>
          <p:nvPr/>
        </p:nvSpPr>
        <p:spPr>
          <a:xfrm>
            <a:off x="8430768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FD108F-1F0F-48F3-8A2B-AF8DE9A69993}"/>
              </a:ext>
            </a:extLst>
          </p:cNvPr>
          <p:cNvSpPr>
            <a:spLocks noGrp="1"/>
          </p:cNvSpPr>
          <p:nvPr/>
        </p:nvSpPr>
        <p:spPr>
          <a:xfrm>
            <a:off x="909828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Automation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EA9F6D-4F13-4893-8AD2-B99F6CDB3BE8}"/>
              </a:ext>
            </a:extLst>
          </p:cNvPr>
          <p:cNvSpPr>
            <a:spLocks noGrp="1"/>
          </p:cNvSpPr>
          <p:nvPr/>
        </p:nvSpPr>
        <p:spPr>
          <a:xfrm>
            <a:off x="909828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Orchestrate and validate the pipeline with Airflow and PyTest.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ACB05C-7B4F-4CBE-B787-7C22EAE67D70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EC722D-152A-49A7-A65F-64E9DBC86621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77508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8AFEC5-3F8C-418B-9D91-DA826E1D21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D06D7-4C8D-4A9F-97A8-D7CF6454E39C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03 • SOURCE &amp;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DBD4C-5F80-427B-B181-A7553FC381E1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 Dataset &amp; Data Quality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CFAF8-B04F-4992-A2B9-8DABF63CFC31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27580-1C99-43A5-B3CD-BB1235638F0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A2F6D7-6C33-47D5-A8F6-8C9A64BBE957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C6886-0E4D-4D58-9F91-9610F032634B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43891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6B6FF4-E967-4CA8-A483-10871E6582C5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67053-7F63-4214-88D4-4CB1B46DD688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4828032" cy="3675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• Sales, stores, products and transaction CSV files
• Product, category, price and quantity attributes
• Daily cloud landing pattern
• Source metadata captured for traceability
• Raw data preserved for reprocessing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1E356-2A7E-4858-A5A7-DFBC9D501704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QUALITY CHECKS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7756E3-556C-47CB-AF34-103831F93F10}"/>
              </a:ext>
            </a:extLst>
          </p:cNvPr>
          <p:cNvSpPr>
            <a:spLocks noGrp="1"/>
          </p:cNvSpPr>
          <p:nvPr/>
        </p:nvSpPr>
        <p:spPr>
          <a:xfrm>
            <a:off x="6236208" y="1874519"/>
            <a:ext cx="347472" cy="347472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7A93E8-8AD8-4916-9F05-B9A33544497C}"/>
              </a:ext>
            </a:extLst>
          </p:cNvPr>
          <p:cNvSpPr>
            <a:spLocks noGrp="1"/>
          </p:cNvSpPr>
          <p:nvPr/>
        </p:nvSpPr>
        <p:spPr>
          <a:xfrm>
            <a:off x="6236208" y="1883663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2A0E2B-36EF-4E78-B76A-FEB723A7D748}"/>
              </a:ext>
            </a:extLst>
          </p:cNvPr>
          <p:cNvSpPr>
            <a:spLocks noGrp="1"/>
          </p:cNvSpPr>
          <p:nvPr/>
        </p:nvSpPr>
        <p:spPr>
          <a:xfrm>
            <a:off x="6720840" y="1856231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Missing / NULL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FE86F-C03A-4E6F-8CEB-0ECDE8DD001B}"/>
              </a:ext>
            </a:extLst>
          </p:cNvPr>
          <p:cNvSpPr>
            <a:spLocks noGrp="1"/>
          </p:cNvSpPr>
          <p:nvPr/>
        </p:nvSpPr>
        <p:spPr>
          <a:xfrm>
            <a:off x="9098280" y="1856231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Detect and handle incomplete records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A2A8AB-94E3-44A0-B54B-E221F754B38B}"/>
              </a:ext>
            </a:extLst>
          </p:cNvPr>
          <p:cNvSpPr>
            <a:spLocks noGrp="1"/>
          </p:cNvSpPr>
          <p:nvPr/>
        </p:nvSpPr>
        <p:spPr>
          <a:xfrm>
            <a:off x="6236208" y="2624327"/>
            <a:ext cx="347472" cy="347472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6ACB76-4B53-49C9-B493-E14D72AF3AA1}"/>
              </a:ext>
            </a:extLst>
          </p:cNvPr>
          <p:cNvSpPr>
            <a:spLocks noGrp="1"/>
          </p:cNvSpPr>
          <p:nvPr/>
        </p:nvSpPr>
        <p:spPr>
          <a:xfrm>
            <a:off x="6236208" y="2633471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7A53A-D3C1-4A2E-A3B4-225A639EDA4E}"/>
              </a:ext>
            </a:extLst>
          </p:cNvPr>
          <p:cNvSpPr>
            <a:spLocks noGrp="1"/>
          </p:cNvSpPr>
          <p:nvPr/>
        </p:nvSpPr>
        <p:spPr>
          <a:xfrm>
            <a:off x="6720840" y="2606039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Duplicates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E29FBA-50E2-47B1-88E7-53B2CA7EF791}"/>
              </a:ext>
            </a:extLst>
          </p:cNvPr>
          <p:cNvSpPr>
            <a:spLocks noGrp="1"/>
          </p:cNvSpPr>
          <p:nvPr/>
        </p:nvSpPr>
        <p:spPr>
          <a:xfrm>
            <a:off x="9098280" y="2606039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Remove duplicate transaction records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3A2249-AD7F-43F8-88AE-172D3BB5BB70}"/>
              </a:ext>
            </a:extLst>
          </p:cNvPr>
          <p:cNvSpPr>
            <a:spLocks noGrp="1"/>
          </p:cNvSpPr>
          <p:nvPr/>
        </p:nvSpPr>
        <p:spPr>
          <a:xfrm>
            <a:off x="6236208" y="3374135"/>
            <a:ext cx="347472" cy="34747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E219F9-02FA-4748-BCA7-BA31793A0344}"/>
              </a:ext>
            </a:extLst>
          </p:cNvPr>
          <p:cNvSpPr>
            <a:spLocks noGrp="1"/>
          </p:cNvSpPr>
          <p:nvPr/>
        </p:nvSpPr>
        <p:spPr>
          <a:xfrm>
            <a:off x="6236208" y="338327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FD60C8-EB24-4864-A9EC-9DE60C8FC6BF}"/>
              </a:ext>
            </a:extLst>
          </p:cNvPr>
          <p:cNvSpPr>
            <a:spLocks noGrp="1"/>
          </p:cNvSpPr>
          <p:nvPr/>
        </p:nvSpPr>
        <p:spPr>
          <a:xfrm>
            <a:off x="6720840" y="3355847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Schema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9DB5C-5FC5-4E51-BE21-2DC8091FC829}"/>
              </a:ext>
            </a:extLst>
          </p:cNvPr>
          <p:cNvSpPr>
            <a:spLocks noGrp="1"/>
          </p:cNvSpPr>
          <p:nvPr/>
        </p:nvSpPr>
        <p:spPr>
          <a:xfrm>
            <a:off x="9098280" y="3355847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Validate columns and data types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045999-2634-4B47-9222-C06061113520}"/>
              </a:ext>
            </a:extLst>
          </p:cNvPr>
          <p:cNvSpPr>
            <a:spLocks noGrp="1"/>
          </p:cNvSpPr>
          <p:nvPr/>
        </p:nvSpPr>
        <p:spPr>
          <a:xfrm>
            <a:off x="6236208" y="4123944"/>
            <a:ext cx="347472" cy="34747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53E8D0-7109-46A8-8586-3127E0AD5FE0}"/>
              </a:ext>
            </a:extLst>
          </p:cNvPr>
          <p:cNvSpPr>
            <a:spLocks noGrp="1"/>
          </p:cNvSpPr>
          <p:nvPr/>
        </p:nvSpPr>
        <p:spPr>
          <a:xfrm>
            <a:off x="6236208" y="4133087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1A57A-61EE-4CCF-808E-B8A8FD99F4B4}"/>
              </a:ext>
            </a:extLst>
          </p:cNvPr>
          <p:cNvSpPr>
            <a:spLocks noGrp="1"/>
          </p:cNvSpPr>
          <p:nvPr/>
        </p:nvSpPr>
        <p:spPr>
          <a:xfrm>
            <a:off x="6720840" y="410565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Formats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BD1346-0B5B-4394-A691-7098A97E9087}"/>
              </a:ext>
            </a:extLst>
          </p:cNvPr>
          <p:cNvSpPr>
            <a:spLocks noGrp="1"/>
          </p:cNvSpPr>
          <p:nvPr/>
        </p:nvSpPr>
        <p:spPr>
          <a:xfrm>
            <a:off x="9098280" y="4105656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Standardize dates, categories and store codes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E428A5-1A80-4D92-805F-E64B6C30840C}"/>
              </a:ext>
            </a:extLst>
          </p:cNvPr>
          <p:cNvSpPr>
            <a:spLocks noGrp="1"/>
          </p:cNvSpPr>
          <p:nvPr/>
        </p:nvSpPr>
        <p:spPr>
          <a:xfrm>
            <a:off x="6236208" y="4873752"/>
            <a:ext cx="347472" cy="34747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5B1E93-2B31-40F8-B9C5-5542D5420FAA}"/>
              </a:ext>
            </a:extLst>
          </p:cNvPr>
          <p:cNvSpPr>
            <a:spLocks noGrp="1"/>
          </p:cNvSpPr>
          <p:nvPr/>
        </p:nvSpPr>
        <p:spPr>
          <a:xfrm>
            <a:off x="6236208" y="48828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278548-3E4F-43F0-BFAD-E7E1D59BE15E}"/>
              </a:ext>
            </a:extLst>
          </p:cNvPr>
          <p:cNvSpPr>
            <a:spLocks noGrp="1"/>
          </p:cNvSpPr>
          <p:nvPr/>
        </p:nvSpPr>
        <p:spPr>
          <a:xfrm>
            <a:off x="6720840" y="485546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Malformed rows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2F975C-3761-496A-8A10-649767F53974}"/>
              </a:ext>
            </a:extLst>
          </p:cNvPr>
          <p:cNvSpPr>
            <a:spLocks noGrp="1"/>
          </p:cNvSpPr>
          <p:nvPr/>
        </p:nvSpPr>
        <p:spPr>
          <a:xfrm>
            <a:off x="9098280" y="4855464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Isolate invalid input records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025C65-0B75-4573-861D-75600AC3897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730A2A-C21C-4CE3-A24A-CA634CCC4C7B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190233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2365B-C697-4973-8D34-5A6D825F89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77786-D6A0-42BE-860D-BC0163962922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04 •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5E7E6-BF49-4EC6-A5A3-06D37CE2553A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1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 Retail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672C2-8F6A-4EA2-B0EA-D2C6BD77E56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74E61-5163-4DE7-BCC2-515CE70ABA20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AF0EED-ABC8-4266-8FA8-9CC9F2EEF3BE}"/>
              </a:ext>
            </a:extLst>
          </p:cNvPr>
          <p:cNvSpPr>
            <a:spLocks noGrp="1"/>
          </p:cNvSpPr>
          <p:nvPr/>
        </p:nvSpPr>
        <p:spPr>
          <a:xfrm>
            <a:off x="50292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4C365-FBE7-4188-A9D3-F2C262C3BCA0}"/>
              </a:ext>
            </a:extLst>
          </p:cNvPr>
          <p:cNvSpPr>
            <a:spLocks noGrp="1"/>
          </p:cNvSpPr>
          <p:nvPr/>
        </p:nvSpPr>
        <p:spPr>
          <a:xfrm>
            <a:off x="50292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CSV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E9084-3C98-47AD-98B9-706995B24AB1}"/>
              </a:ext>
            </a:extLst>
          </p:cNvPr>
          <p:cNvSpPr>
            <a:spLocks noGrp="1"/>
          </p:cNvSpPr>
          <p:nvPr/>
        </p:nvSpPr>
        <p:spPr>
          <a:xfrm>
            <a:off x="57607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Retail
Sources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2AC54826-3AA9-46C4-A96A-96ADC3C01974}"/>
              </a:ext>
            </a:extLst>
          </p:cNvPr>
          <p:cNvSpPr>
            <a:spLocks noGrp="1"/>
          </p:cNvSpPr>
          <p:nvPr/>
        </p:nvSpPr>
        <p:spPr>
          <a:xfrm>
            <a:off x="1755648" y="2807208"/>
            <a:ext cx="338328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6D8756-293E-4B43-8BDC-F432E53FD130}"/>
              </a:ext>
            </a:extLst>
          </p:cNvPr>
          <p:cNvSpPr>
            <a:spLocks noGrp="1"/>
          </p:cNvSpPr>
          <p:nvPr/>
        </p:nvSpPr>
        <p:spPr>
          <a:xfrm>
            <a:off x="214884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DA25DB-C7AB-48E0-B8E0-0E55AE18B64E}"/>
              </a:ext>
            </a:extLst>
          </p:cNvPr>
          <p:cNvSpPr>
            <a:spLocks noGrp="1"/>
          </p:cNvSpPr>
          <p:nvPr/>
        </p:nvSpPr>
        <p:spPr>
          <a:xfrm>
            <a:off x="2148840" y="2395728"/>
            <a:ext cx="123444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ADLS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D21EA-DCA8-4DFE-9A5A-8EE450D2877B}"/>
              </a:ext>
            </a:extLst>
          </p:cNvPr>
          <p:cNvSpPr>
            <a:spLocks noGrp="1"/>
          </p:cNvSpPr>
          <p:nvPr/>
        </p:nvSpPr>
        <p:spPr>
          <a:xfrm>
            <a:off x="222199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/ Data</a:t>
            </a:r>
            <a:br/>
            <a:r>
              <a:t>Lake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44C3E2F3-64EC-42D7-9AF0-200F44C28894}"/>
              </a:ext>
            </a:extLst>
          </p:cNvPr>
          <p:cNvSpPr>
            <a:spLocks noGrp="1"/>
          </p:cNvSpPr>
          <p:nvPr/>
        </p:nvSpPr>
        <p:spPr>
          <a:xfrm>
            <a:off x="3401568" y="2807208"/>
            <a:ext cx="338328" cy="0"/>
          </a:xfrm>
          <a:prstGeom prst="line">
            <a:avLst/>
          </a:prstGeom>
          <a:ln w="31750">
            <a:solidFill>
              <a:srgbClr val="28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A3601A-CCE5-44FD-8CB1-FD69095CDAFA}"/>
              </a:ext>
            </a:extLst>
          </p:cNvPr>
          <p:cNvSpPr>
            <a:spLocks noGrp="1"/>
          </p:cNvSpPr>
          <p:nvPr/>
        </p:nvSpPr>
        <p:spPr>
          <a:xfrm>
            <a:off x="379476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5CD64A-F8F4-4907-9DF8-97997BB04A3D}"/>
              </a:ext>
            </a:extLst>
          </p:cNvPr>
          <p:cNvSpPr>
            <a:spLocks noGrp="1"/>
          </p:cNvSpPr>
          <p:nvPr/>
        </p:nvSpPr>
        <p:spPr>
          <a:xfrm>
            <a:off x="379476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ADF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E2C828-B5A6-4B88-86E6-E36E7F07938D}"/>
              </a:ext>
            </a:extLst>
          </p:cNvPr>
          <p:cNvSpPr>
            <a:spLocks noGrp="1"/>
          </p:cNvSpPr>
          <p:nvPr/>
        </p:nvSpPr>
        <p:spPr>
          <a:xfrm>
            <a:off x="386791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Ingestion +</a:t>
            </a:r>
            <a:br/>
            <a:r>
              <a:t>Parquet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9079CDB5-5873-44EA-9079-6441A1B0B30A}"/>
              </a:ext>
            </a:extLst>
          </p:cNvPr>
          <p:cNvSpPr>
            <a:spLocks noGrp="1"/>
          </p:cNvSpPr>
          <p:nvPr/>
        </p:nvSpPr>
        <p:spPr>
          <a:xfrm>
            <a:off x="5047488" y="2807208"/>
            <a:ext cx="338328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EDC7720-54DF-41B8-ABE0-B0A7A7CB6301}"/>
              </a:ext>
            </a:extLst>
          </p:cNvPr>
          <p:cNvSpPr>
            <a:spLocks noGrp="1"/>
          </p:cNvSpPr>
          <p:nvPr/>
        </p:nvSpPr>
        <p:spPr>
          <a:xfrm>
            <a:off x="544068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47289-03DE-42D1-908A-64F34D41CC52}"/>
              </a:ext>
            </a:extLst>
          </p:cNvPr>
          <p:cNvSpPr>
            <a:spLocks noGrp="1"/>
          </p:cNvSpPr>
          <p:nvPr/>
        </p:nvSpPr>
        <p:spPr>
          <a:xfrm>
            <a:off x="544068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DBX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F0F8BD-6FC3-4DDD-B1D7-4B9DB7F06F84}"/>
              </a:ext>
            </a:extLst>
          </p:cNvPr>
          <p:cNvSpPr>
            <a:spLocks noGrp="1"/>
          </p:cNvSpPr>
          <p:nvPr/>
        </p:nvSpPr>
        <p:spPr>
          <a:xfrm>
            <a:off x="551383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Databricks</a:t>
            </a:r>
            <a:br/>
            <a:r>
              <a:t>Bronze</a:t>
            </a:r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C46E7A3A-6FF9-4E61-B9DC-332CFB761018}"/>
              </a:ext>
            </a:extLst>
          </p:cNvPr>
          <p:cNvSpPr>
            <a:spLocks noGrp="1"/>
          </p:cNvSpPr>
          <p:nvPr/>
        </p:nvSpPr>
        <p:spPr>
          <a:xfrm>
            <a:off x="6693408" y="2807208"/>
            <a:ext cx="338328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9C2A7C1-2ABD-4278-88E3-039392B3EF71}"/>
              </a:ext>
            </a:extLst>
          </p:cNvPr>
          <p:cNvSpPr>
            <a:spLocks noGrp="1"/>
          </p:cNvSpPr>
          <p:nvPr/>
        </p:nvSpPr>
        <p:spPr>
          <a:xfrm>
            <a:off x="708660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B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A6014D-15C5-4142-B265-517B0FD1E1A4}"/>
              </a:ext>
            </a:extLst>
          </p:cNvPr>
          <p:cNvSpPr>
            <a:spLocks noGrp="1"/>
          </p:cNvSpPr>
          <p:nvPr/>
        </p:nvSpPr>
        <p:spPr>
          <a:xfrm>
            <a:off x="708660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42B174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09A3A1-4352-455E-9672-16BCF7A2AC86}"/>
              </a:ext>
            </a:extLst>
          </p:cNvPr>
          <p:cNvSpPr>
            <a:spLocks noGrp="1"/>
          </p:cNvSpPr>
          <p:nvPr/>
        </p:nvSpPr>
        <p:spPr>
          <a:xfrm>
            <a:off x="715975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 +</a:t>
            </a:r>
            <a:br/>
            <a:r>
              <a:t>Enrich</a:t>
            </a:r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34662E58-5F19-4E1D-9816-483CAFCE79F6}"/>
              </a:ext>
            </a:extLst>
          </p:cNvPr>
          <p:cNvSpPr>
            <a:spLocks noGrp="1"/>
          </p:cNvSpPr>
          <p:nvPr/>
        </p:nvSpPr>
        <p:spPr>
          <a:xfrm>
            <a:off x="8339328" y="2807208"/>
            <a:ext cx="338328" cy="0"/>
          </a:xfrm>
          <a:prstGeom prst="line">
            <a:avLst/>
          </a:prstGeom>
          <a:ln w="31750">
            <a:solidFill>
              <a:srgbClr val="42B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AF5A829-F03C-4C11-BE4A-E7FA4A8BFA5F}"/>
              </a:ext>
            </a:extLst>
          </p:cNvPr>
          <p:cNvSpPr>
            <a:spLocks noGrp="1"/>
          </p:cNvSpPr>
          <p:nvPr/>
        </p:nvSpPr>
        <p:spPr>
          <a:xfrm>
            <a:off x="873252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CA48F3-27A8-4B2E-9DB9-063DDDB1ACED}"/>
              </a:ext>
            </a:extLst>
          </p:cNvPr>
          <p:cNvSpPr>
            <a:spLocks noGrp="1"/>
          </p:cNvSpPr>
          <p:nvPr/>
        </p:nvSpPr>
        <p:spPr>
          <a:xfrm>
            <a:off x="873252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EF40E-D1BA-4C38-BD91-5E2A3246075D}"/>
              </a:ext>
            </a:extLst>
          </p:cNvPr>
          <p:cNvSpPr>
            <a:spLocks noGrp="1"/>
          </p:cNvSpPr>
          <p:nvPr/>
        </p:nvSpPr>
        <p:spPr>
          <a:xfrm>
            <a:off x="880567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Metrics +
Insights</a:t>
            </a:r>
          </a:p>
        </p:txBody>
      </p:sp>
      <p:sp>
        <p:nvSpPr>
          <p:cNvPr id="30" name="Connector 29">
            <a:extLst>
              <a:ext uri="{FF2B5EF4-FFF2-40B4-BE49-F238E27FC236}">
                <a16:creationId xmlns:a16="http://schemas.microsoft.com/office/drawing/2014/main" id="{12CD89E1-63C7-47FB-AD46-579205D1F427}"/>
              </a:ext>
            </a:extLst>
          </p:cNvPr>
          <p:cNvSpPr>
            <a:spLocks noGrp="1"/>
          </p:cNvSpPr>
          <p:nvPr/>
        </p:nvSpPr>
        <p:spPr>
          <a:xfrm>
            <a:off x="9985248" y="2807208"/>
            <a:ext cx="338328" cy="0"/>
          </a:xfrm>
          <a:prstGeom prst="line">
            <a:avLst/>
          </a:prstGeom>
          <a:ln w="31750">
            <a:solidFill>
              <a:srgbClr val="F29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5BB6557-5FDB-4835-81DB-560185A200E5}"/>
              </a:ext>
            </a:extLst>
          </p:cNvPr>
          <p:cNvSpPr>
            <a:spLocks noGrp="1"/>
          </p:cNvSpPr>
          <p:nvPr/>
        </p:nvSpPr>
        <p:spPr>
          <a:xfrm>
            <a:off x="1037844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1DD7BB-3BCC-4FEB-9DF8-76BEC09B6AFC}"/>
              </a:ext>
            </a:extLst>
          </p:cNvPr>
          <p:cNvSpPr>
            <a:spLocks noGrp="1"/>
          </p:cNvSpPr>
          <p:nvPr/>
        </p:nvSpPr>
        <p:spPr>
          <a:xfrm>
            <a:off x="1037844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BI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AB6AFE-217A-4C89-90AD-B8C017881FDA}"/>
              </a:ext>
            </a:extLst>
          </p:cNvPr>
          <p:cNvSpPr>
            <a:spLocks noGrp="1"/>
          </p:cNvSpPr>
          <p:nvPr/>
        </p:nvSpPr>
        <p:spPr>
          <a:xfrm>
            <a:off x="1045159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Dashboards</a:t>
            </a:r>
            <a:br/>
            <a:r>
              <a:t>&amp; Insights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3DAA1B-9202-4B33-81E5-8ABFEC871322}"/>
              </a:ext>
            </a:extLst>
          </p:cNvPr>
          <p:cNvSpPr>
            <a:spLocks noGrp="1"/>
          </p:cNvSpPr>
          <p:nvPr/>
        </p:nvSpPr>
        <p:spPr>
          <a:xfrm>
            <a:off x="685800" y="4069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CROSS-CUTTING CONTROLS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666FB9F-C43C-4DAE-86A9-1124D4843ADC}"/>
              </a:ext>
            </a:extLst>
          </p:cNvPr>
          <p:cNvSpPr>
            <a:spLocks noGrp="1"/>
          </p:cNvSpPr>
          <p:nvPr/>
        </p:nvSpPr>
        <p:spPr>
          <a:xfrm>
            <a:off x="7315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BEEA30-4603-49D7-82D8-14BE35D320B4}"/>
              </a:ext>
            </a:extLst>
          </p:cNvPr>
          <p:cNvSpPr>
            <a:spLocks noGrp="1"/>
          </p:cNvSpPr>
          <p:nvPr/>
        </p:nvSpPr>
        <p:spPr>
          <a:xfrm>
            <a:off x="7315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Unity Catalog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1A60AD6-F482-45E5-BC84-891E9558B411}"/>
              </a:ext>
            </a:extLst>
          </p:cNvPr>
          <p:cNvSpPr>
            <a:spLocks noGrp="1"/>
          </p:cNvSpPr>
          <p:nvPr/>
        </p:nvSpPr>
        <p:spPr>
          <a:xfrm>
            <a:off x="25603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08D2C5-3134-413F-886D-4836991630A4}"/>
              </a:ext>
            </a:extLst>
          </p:cNvPr>
          <p:cNvSpPr>
            <a:spLocks noGrp="1"/>
          </p:cNvSpPr>
          <p:nvPr/>
        </p:nvSpPr>
        <p:spPr>
          <a:xfrm>
            <a:off x="25603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dbt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0A41423-74F7-41E5-A792-FA927FFAD48E}"/>
              </a:ext>
            </a:extLst>
          </p:cNvPr>
          <p:cNvSpPr>
            <a:spLocks noGrp="1"/>
          </p:cNvSpPr>
          <p:nvPr/>
        </p:nvSpPr>
        <p:spPr>
          <a:xfrm>
            <a:off x="43891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92F9AE-65D8-4DB9-9C9D-DACE6F2A2407}"/>
              </a:ext>
            </a:extLst>
          </p:cNvPr>
          <p:cNvSpPr>
            <a:spLocks noGrp="1"/>
          </p:cNvSpPr>
          <p:nvPr/>
        </p:nvSpPr>
        <p:spPr>
          <a:xfrm>
            <a:off x="43891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Airflow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8BC1A63-91AB-494A-A9F0-20FBA37C9C0E}"/>
              </a:ext>
            </a:extLst>
          </p:cNvPr>
          <p:cNvSpPr>
            <a:spLocks noGrp="1"/>
          </p:cNvSpPr>
          <p:nvPr/>
        </p:nvSpPr>
        <p:spPr>
          <a:xfrm>
            <a:off x="62179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A11302-9B84-484E-9823-0E9524EF4F2E}"/>
              </a:ext>
            </a:extLst>
          </p:cNvPr>
          <p:cNvSpPr>
            <a:spLocks noGrp="1"/>
          </p:cNvSpPr>
          <p:nvPr/>
        </p:nvSpPr>
        <p:spPr>
          <a:xfrm>
            <a:off x="62179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PyTest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83837EF-E07F-4A9A-B6DF-0E55A67BB11F}"/>
              </a:ext>
            </a:extLst>
          </p:cNvPr>
          <p:cNvSpPr>
            <a:spLocks noGrp="1"/>
          </p:cNvSpPr>
          <p:nvPr/>
        </p:nvSpPr>
        <p:spPr>
          <a:xfrm>
            <a:off x="80467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18D1E9-1952-4782-99B1-1585003A6C76}"/>
              </a:ext>
            </a:extLst>
          </p:cNvPr>
          <p:cNvSpPr>
            <a:spLocks noGrp="1"/>
          </p:cNvSpPr>
          <p:nvPr/>
        </p:nvSpPr>
        <p:spPr>
          <a:xfrm>
            <a:off x="80467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Slack Alerts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1CFA06D-7805-47EC-A474-0959D2A928BD}"/>
              </a:ext>
            </a:extLst>
          </p:cNvPr>
          <p:cNvSpPr>
            <a:spLocks noGrp="1"/>
          </p:cNvSpPr>
          <p:nvPr/>
        </p:nvSpPr>
        <p:spPr>
          <a:xfrm>
            <a:off x="98755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BCE521-EF55-47F3-BB0F-F69FC667F334}"/>
              </a:ext>
            </a:extLst>
          </p:cNvPr>
          <p:cNvSpPr>
            <a:spLocks noGrp="1"/>
          </p:cNvSpPr>
          <p:nvPr/>
        </p:nvSpPr>
        <p:spPr>
          <a:xfrm>
            <a:off x="98755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Error Logs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B7C8AE-5CB3-4A73-87B1-74122DEBAF25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BFED15-F9A5-4B52-8867-DC3073785295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516FA8D-5AB0-48B1-9B0E-B1FAE8114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noFill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C941B4-C628-4382-929E-C57CBFB9C1F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04 • HIGH-LEVEL ARCHITECTURE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724DD2-413F-49D0-ABEC-08BD4D77E7F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191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73C2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3C2D"/>
                </a:solidFill>
                <a:latin typeface="Aptos Display"/>
                <a:ea typeface="Aptos Display"/>
                <a:cs typeface="Aptos Display"/>
              </a:rPr>
              <a:t>Grocery Retail Data Model Pipeline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62D94E-FE8D-49BE-8EC7-82B103B3DA1A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" cy="47625"/>
          </a:xfrm>
          <a:prstGeom prst="rect">
            <a:avLst/>
          </a:prstGeom>
          <a:solidFill>
            <a:srgbClr val="D46A2E"/>
          </a:solidFill>
          <a:ln w="0">
            <a:noFill/>
          </a:ln>
        </p:spPr>
      </p:sp>
      <p:pic>
        <p:nvPicPr>
          <p:cNvPr id="105" name="Picture 1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09788" y="1257300"/>
            <a:ext cx="797242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6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E1D53F-062C-44C9-9ED6-8986F8386A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F3772-393A-4947-92F9-0395334FCD4D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05 • LOW-LEVEL GROCERY DATA ENGINEERING ARCHITECTURE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8197" y="533400"/>
            <a:ext cx="415560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30D048-74B1-4143-AB35-DE87F2DD7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56D1C-1086-4390-94B7-36F120CA4CDB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05 • DATA LAKE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A0933-0742-4016-BB25-1C8A6933A856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Storage &amp; Target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7108A5-909A-444B-8425-F01960154EB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2033E-A5B3-4656-A8BE-D983E45246D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533126-502B-4E82-BD8A-B23E04FE7845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234440" cy="530352"/>
          </a:xfrm>
          <a:prstGeom prst="round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4CAFA-B2E0-464E-801C-1590B5AB1693}"/>
              </a:ext>
            </a:extLst>
          </p:cNvPr>
          <p:cNvSpPr>
            <a:spLocks noGrp="1"/>
          </p:cNvSpPr>
          <p:nvPr/>
        </p:nvSpPr>
        <p:spPr>
          <a:xfrm>
            <a:off x="685800" y="150876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RAW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4963A-AE2A-4C3D-BC79-2F2AE46E3B0E}"/>
              </a:ext>
            </a:extLst>
          </p:cNvPr>
          <p:cNvSpPr>
            <a:spLocks noGrp="1"/>
          </p:cNvSpPr>
          <p:nvPr/>
        </p:nvSpPr>
        <p:spPr>
          <a:xfrm>
            <a:off x="2148840" y="143560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Original CSV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802D-4EDE-43C4-9C82-AD924101A77B}"/>
              </a:ext>
            </a:extLst>
          </p:cNvPr>
          <p:cNvSpPr>
            <a:spLocks noGrp="1"/>
          </p:cNvSpPr>
          <p:nvPr/>
        </p:nvSpPr>
        <p:spPr>
          <a:xfrm>
            <a:off x="6583680" y="1435608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abfss://raw@grocerylake.dfs.core.windows.net/YYYY/MM/DD/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BDE429B-473F-45FF-A999-F41B83C72DA3}"/>
              </a:ext>
            </a:extLst>
          </p:cNvPr>
          <p:cNvSpPr>
            <a:spLocks noGrp="1"/>
          </p:cNvSpPr>
          <p:nvPr/>
        </p:nvSpPr>
        <p:spPr>
          <a:xfrm>
            <a:off x="685800" y="2121408"/>
            <a:ext cx="1234440" cy="530352"/>
          </a:xfrm>
          <a:prstGeom prst="round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0F454-D32E-4458-8710-08A25A49D796}"/>
              </a:ext>
            </a:extLst>
          </p:cNvPr>
          <p:cNvSpPr>
            <a:spLocks noGrp="1"/>
          </p:cNvSpPr>
          <p:nvPr/>
        </p:nvSpPr>
        <p:spPr>
          <a:xfrm>
            <a:off x="685800" y="225856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PARQUET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EF838-F456-4959-BEA0-64EED9D96C1B}"/>
              </a:ext>
            </a:extLst>
          </p:cNvPr>
          <p:cNvSpPr>
            <a:spLocks noGrp="1"/>
          </p:cNvSpPr>
          <p:nvPr/>
        </p:nvSpPr>
        <p:spPr>
          <a:xfrm>
            <a:off x="2148840" y="2185415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Ingested format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7B2FC-6D78-462D-9A49-C925AF80AD19}"/>
              </a:ext>
            </a:extLst>
          </p:cNvPr>
          <p:cNvSpPr>
            <a:spLocks noGrp="1"/>
          </p:cNvSpPr>
          <p:nvPr/>
        </p:nvSpPr>
        <p:spPr>
          <a:xfrm>
            <a:off x="6583680" y="2185415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Columnar files for scalable 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B4824CA-F010-4E31-9177-BA1A5830FF81}"/>
              </a:ext>
            </a:extLst>
          </p:cNvPr>
          <p:cNvSpPr>
            <a:spLocks noGrp="1"/>
          </p:cNvSpPr>
          <p:nvPr/>
        </p:nvSpPr>
        <p:spPr>
          <a:xfrm>
            <a:off x="685800" y="2871215"/>
            <a:ext cx="1234440" cy="530352"/>
          </a:xfrm>
          <a:prstGeom prst="round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30BF36-18D1-4177-89BB-AB40951D218A}"/>
              </a:ext>
            </a:extLst>
          </p:cNvPr>
          <p:cNvSpPr>
            <a:spLocks noGrp="1"/>
          </p:cNvSpPr>
          <p:nvPr/>
        </p:nvSpPr>
        <p:spPr>
          <a:xfrm>
            <a:off x="685800" y="3008375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6582E5-8C10-4979-A528-A70FCDD45BBF}"/>
              </a:ext>
            </a:extLst>
          </p:cNvPr>
          <p:cNvSpPr>
            <a:spLocks noGrp="1"/>
          </p:cNvSpPr>
          <p:nvPr/>
        </p:nvSpPr>
        <p:spPr>
          <a:xfrm>
            <a:off x="2148840" y="2935223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grocery_catalog.raw.transactions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63BFB5-6219-4A85-9C06-AC94ADDE0411}"/>
              </a:ext>
            </a:extLst>
          </p:cNvPr>
          <p:cNvSpPr>
            <a:spLocks noGrp="1"/>
          </p:cNvSpPr>
          <p:nvPr/>
        </p:nvSpPr>
        <p:spPr>
          <a:xfrm>
            <a:off x="6583680" y="2935223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Delta table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414C1B-A869-4AFE-B073-85B6A490227F}"/>
              </a:ext>
            </a:extLst>
          </p:cNvPr>
          <p:cNvSpPr>
            <a:spLocks noGrp="1"/>
          </p:cNvSpPr>
          <p:nvPr/>
        </p:nvSpPr>
        <p:spPr>
          <a:xfrm>
            <a:off x="685800" y="3621024"/>
            <a:ext cx="1234440" cy="530352"/>
          </a:xfrm>
          <a:prstGeom prst="round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AE5687-F6EE-41AB-B938-28E31770A07A}"/>
              </a:ext>
            </a:extLst>
          </p:cNvPr>
          <p:cNvSpPr>
            <a:spLocks noGrp="1"/>
          </p:cNvSpPr>
          <p:nvPr/>
        </p:nvSpPr>
        <p:spPr>
          <a:xfrm>
            <a:off x="685800" y="375818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80F2B2-259D-4DFC-8D74-FBFB5A272D45}"/>
              </a:ext>
            </a:extLst>
          </p:cNvPr>
          <p:cNvSpPr>
            <a:spLocks noGrp="1"/>
          </p:cNvSpPr>
          <p:nvPr/>
        </p:nvSpPr>
        <p:spPr>
          <a:xfrm>
            <a:off x="2148840" y="3685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grocery_catalog.silver.clean_transactions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657EDE-AF14-4D5A-AB10-2EB86B6C37B1}"/>
              </a:ext>
            </a:extLst>
          </p:cNvPr>
          <p:cNvSpPr>
            <a:spLocks noGrp="1"/>
          </p:cNvSpPr>
          <p:nvPr/>
        </p:nvSpPr>
        <p:spPr>
          <a:xfrm>
            <a:off x="6583680" y="3685032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Cleaned &amp; standardized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E8143E-9EB6-4960-8DDB-1464FB1B23A4}"/>
              </a:ext>
            </a:extLst>
          </p:cNvPr>
          <p:cNvSpPr>
            <a:spLocks noGrp="1"/>
          </p:cNvSpPr>
          <p:nvPr/>
        </p:nvSpPr>
        <p:spPr>
          <a:xfrm>
            <a:off x="685800" y="4370831"/>
            <a:ext cx="1234440" cy="530352"/>
          </a:xfrm>
          <a:prstGeom prst="round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A3221A-F07C-4254-B6C8-B6937960D013}"/>
              </a:ext>
            </a:extLst>
          </p:cNvPr>
          <p:cNvSpPr>
            <a:spLocks noGrp="1"/>
          </p:cNvSpPr>
          <p:nvPr/>
        </p:nvSpPr>
        <p:spPr>
          <a:xfrm>
            <a:off x="685800" y="45079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DB295B-564D-44B1-B092-5D2242BF320E}"/>
              </a:ext>
            </a:extLst>
          </p:cNvPr>
          <p:cNvSpPr>
            <a:spLocks noGrp="1"/>
          </p:cNvSpPr>
          <p:nvPr/>
        </p:nvSpPr>
        <p:spPr>
          <a:xfrm>
            <a:off x="2148840" y="443484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grocery_catalog.gold.sales_metrics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D56231-1876-4977-B30F-E6D0F00B116E}"/>
              </a:ext>
            </a:extLst>
          </p:cNvPr>
          <p:cNvSpPr>
            <a:spLocks noGrp="1"/>
          </p:cNvSpPr>
          <p:nvPr/>
        </p:nvSpPr>
        <p:spPr>
          <a:xfrm>
            <a:off x="6583680" y="4434840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Aggregated sales and inventory metrics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FADB003-6EE4-4C47-BE09-B89705D15F51}"/>
              </a:ext>
            </a:extLst>
          </p:cNvPr>
          <p:cNvSpPr>
            <a:spLocks noGrp="1"/>
          </p:cNvSpPr>
          <p:nvPr/>
        </p:nvSpPr>
        <p:spPr>
          <a:xfrm>
            <a:off x="685800" y="5120640"/>
            <a:ext cx="1234440" cy="530352"/>
          </a:xfrm>
          <a:prstGeom prst="roundRect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C2FC8D-D876-4673-86FA-D41F364F631B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LOGS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15392-F9A3-4E57-963E-3FB5E0A1C387}"/>
              </a:ext>
            </a:extLst>
          </p:cNvPr>
          <p:cNvSpPr>
            <a:spLocks noGrp="1"/>
          </p:cNvSpPr>
          <p:nvPr/>
        </p:nvSpPr>
        <p:spPr>
          <a:xfrm>
            <a:off x="2148840" y="518464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grocery_catalog.logs.etl_errors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E5479F-AAAB-4492-9431-4036D5BFDCC9}"/>
              </a:ext>
            </a:extLst>
          </p:cNvPr>
          <p:cNvSpPr>
            <a:spLocks noGrp="1"/>
          </p:cNvSpPr>
          <p:nvPr/>
        </p:nvSpPr>
        <p:spPr>
          <a:xfrm>
            <a:off x="6583680" y="5184648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Errors &amp; monitoring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8D6390-3D92-4D42-9579-D282FD7F6A08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6D6471-0F4E-4D8B-9A10-7C272EA6E32C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481171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3838E2-DFD8-4052-8E86-67C5DD7636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124F2-DEF6-4248-9287-74556E7B18AE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06 • MEDALLION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56D9C-C08C-4178-9513-164E2B63410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Bronze → Silver → Gold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98F17-8E62-4A55-BBEA-F463224AC5AF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90648-3452-4C39-91D0-EA4FE6C25069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7E7F5E-F0D5-48B5-B96E-B9B267153470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D9AB90-3DD9-463E-BA4B-3B7C3441D508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429000" cy="7315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2F4AE-5CF0-49C5-A6BB-F02B4578075E}"/>
              </a:ext>
            </a:extLst>
          </p:cNvPr>
          <p:cNvSpPr>
            <a:spLocks noGrp="1"/>
          </p:cNvSpPr>
          <p:nvPr/>
        </p:nvSpPr>
        <p:spPr>
          <a:xfrm>
            <a:off x="594360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0AD97-1451-4FB1-BF8C-42C5EDC5B94A}"/>
              </a:ext>
            </a:extLst>
          </p:cNvPr>
          <p:cNvSpPr>
            <a:spLocks noGrp="1"/>
          </p:cNvSpPr>
          <p:nvPr/>
        </p:nvSpPr>
        <p:spPr>
          <a:xfrm>
            <a:off x="850392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RAW FOUNDATION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B3C4FC-91EE-4DFE-90B6-B003BFECF332}"/>
              </a:ext>
            </a:extLst>
          </p:cNvPr>
          <p:cNvSpPr>
            <a:spLocks noGrp="1"/>
          </p:cNvSpPr>
          <p:nvPr/>
        </p:nvSpPr>
        <p:spPr>
          <a:xfrm>
            <a:off x="914400" y="3063240"/>
            <a:ext cx="2788920" cy="2011680"/>
          </a:xfrm>
          <a:prstGeom prst="roundRect">
            <a:avLst/>
          </a:prstGeom>
          <a:solidFill>
            <a:srgbClr val="E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2EAF3-81D3-4582-931B-61EDAE1B43CB}"/>
              </a:ext>
            </a:extLst>
          </p:cNvPr>
          <p:cNvSpPr>
            <a:spLocks noGrp="1"/>
          </p:cNvSpPr>
          <p:nvPr/>
        </p:nvSpPr>
        <p:spPr>
          <a:xfrm>
            <a:off x="1124712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Preserve source data</a:t>
            </a:r>
            <a:br/>
            <a:r>
              <a:t>Traceability &amp; reprocessing</a:t>
            </a:r>
            <a:br/>
            <a:r>
              <a:t>Unity Catalog / Delta</a:t>
            </a:r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1829151A-2F41-4E2F-953B-F206ED45DA8D}"/>
              </a:ext>
            </a:extLst>
          </p:cNvPr>
          <p:cNvSpPr>
            <a:spLocks noGrp="1"/>
          </p:cNvSpPr>
          <p:nvPr/>
        </p:nvSpPr>
        <p:spPr>
          <a:xfrm>
            <a:off x="4050791" y="3657600"/>
            <a:ext cx="347473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5EDB16-003F-4F78-8040-0C0EE44CB582}"/>
              </a:ext>
            </a:extLst>
          </p:cNvPr>
          <p:cNvSpPr>
            <a:spLocks noGrp="1"/>
          </p:cNvSpPr>
          <p:nvPr/>
        </p:nvSpPr>
        <p:spPr>
          <a:xfrm>
            <a:off x="4453128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F6AF68-F0CB-4DC7-8F3A-810EED617718}"/>
              </a:ext>
            </a:extLst>
          </p:cNvPr>
          <p:cNvSpPr>
            <a:spLocks noGrp="1"/>
          </p:cNvSpPr>
          <p:nvPr/>
        </p:nvSpPr>
        <p:spPr>
          <a:xfrm>
            <a:off x="4453128" y="1508760"/>
            <a:ext cx="3429000" cy="73152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159077-92A4-4B25-B0B1-AD0E46B8C0D1}"/>
              </a:ext>
            </a:extLst>
          </p:cNvPr>
          <p:cNvSpPr>
            <a:spLocks noGrp="1"/>
          </p:cNvSpPr>
          <p:nvPr/>
        </p:nvSpPr>
        <p:spPr>
          <a:xfrm>
            <a:off x="4453128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A62A3E-1B22-402E-A704-299F029FDAB2}"/>
              </a:ext>
            </a:extLst>
          </p:cNvPr>
          <p:cNvSpPr>
            <a:spLocks noGrp="1"/>
          </p:cNvSpPr>
          <p:nvPr/>
        </p:nvSpPr>
        <p:spPr>
          <a:xfrm>
            <a:off x="4709160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TRUSTED DATA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68ED27B-3608-4F56-A564-E1124A4782C8}"/>
              </a:ext>
            </a:extLst>
          </p:cNvPr>
          <p:cNvSpPr>
            <a:spLocks noGrp="1"/>
          </p:cNvSpPr>
          <p:nvPr/>
        </p:nvSpPr>
        <p:spPr>
          <a:xfrm>
            <a:off x="4773168" y="3063240"/>
            <a:ext cx="2788920" cy="2011680"/>
          </a:xfrm>
          <a:prstGeom prst="roundRect">
            <a:avLst/>
          </a:prstGeom>
          <a:solidFill>
            <a:srgbClr val="E4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4D480-A47C-46A0-8DEC-94FA1EFFDF28}"/>
              </a:ext>
            </a:extLst>
          </p:cNvPr>
          <p:cNvSpPr>
            <a:spLocks noGrp="1"/>
          </p:cNvSpPr>
          <p:nvPr/>
        </p:nvSpPr>
        <p:spPr>
          <a:xfrm>
            <a:off x="4983480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Clean &amp; deduplicate</a:t>
            </a:r>
            <a:br/>
            <a:r>
              <a:t>Standardize formats</a:t>
            </a:r>
            <a:br/>
            <a:r>
              <a:t>Join dimensions</a:t>
            </a:r>
          </a:p>
        </p:txBody>
      </p:sp>
      <p:sp>
        <p:nvSpPr>
          <p:cNvPr id="20" name="Connector 19">
            <a:extLst>
              <a:ext uri="{FF2B5EF4-FFF2-40B4-BE49-F238E27FC236}">
                <a16:creationId xmlns:a16="http://schemas.microsoft.com/office/drawing/2014/main" id="{902B0A0D-431D-4945-960D-EB3DFA2F9207}"/>
              </a:ext>
            </a:extLst>
          </p:cNvPr>
          <p:cNvSpPr>
            <a:spLocks noGrp="1"/>
          </p:cNvSpPr>
          <p:nvPr/>
        </p:nvSpPr>
        <p:spPr>
          <a:xfrm>
            <a:off x="7909560" y="3657600"/>
            <a:ext cx="347472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31D439D-145F-4FF9-B46D-1B6146DCAF8F}"/>
              </a:ext>
            </a:extLst>
          </p:cNvPr>
          <p:cNvSpPr>
            <a:spLocks noGrp="1"/>
          </p:cNvSpPr>
          <p:nvPr/>
        </p:nvSpPr>
        <p:spPr>
          <a:xfrm>
            <a:off x="8311896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AEE27B-8B45-454F-A5EE-E72362B1605C}"/>
              </a:ext>
            </a:extLst>
          </p:cNvPr>
          <p:cNvSpPr>
            <a:spLocks noGrp="1"/>
          </p:cNvSpPr>
          <p:nvPr/>
        </p:nvSpPr>
        <p:spPr>
          <a:xfrm>
            <a:off x="8311896" y="1508760"/>
            <a:ext cx="3429000" cy="731520"/>
          </a:xfrm>
          <a:prstGeom prst="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4435BE-51E7-4663-9F35-CA0536CD50E1}"/>
              </a:ext>
            </a:extLst>
          </p:cNvPr>
          <p:cNvSpPr>
            <a:spLocks noGrp="1"/>
          </p:cNvSpPr>
          <p:nvPr/>
        </p:nvSpPr>
        <p:spPr>
          <a:xfrm>
            <a:off x="8311896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F3A6D-75B7-4085-A8D5-1FA054FDFD65}"/>
              </a:ext>
            </a:extLst>
          </p:cNvPr>
          <p:cNvSpPr>
            <a:spLocks noGrp="1"/>
          </p:cNvSpPr>
          <p:nvPr/>
        </p:nvSpPr>
        <p:spPr>
          <a:xfrm>
            <a:off x="8567928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BUSINESS READY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BA0B816-4E83-45AF-9D11-D27D98765D35}"/>
              </a:ext>
            </a:extLst>
          </p:cNvPr>
          <p:cNvSpPr>
            <a:spLocks noGrp="1"/>
          </p:cNvSpPr>
          <p:nvPr/>
        </p:nvSpPr>
        <p:spPr>
          <a:xfrm>
            <a:off x="8631936" y="3063240"/>
            <a:ext cx="2788920" cy="2011680"/>
          </a:xfrm>
          <a:prstGeom prst="roundRect">
            <a:avLst/>
          </a:prstGeom>
          <a:solidFill>
            <a:srgbClr val="FD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B0F405-BFCA-48E0-9E9C-86DF0B8C446B}"/>
              </a:ext>
            </a:extLst>
          </p:cNvPr>
          <p:cNvSpPr>
            <a:spLocks noGrp="1"/>
          </p:cNvSpPr>
          <p:nvPr/>
        </p:nvSpPr>
        <p:spPr>
          <a:xfrm>
            <a:off x="8842248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Sales metrics
Inventory aggregates
Dashboards &amp; analytics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6DE42D-4F0B-4D8C-B2A4-B6E97C3A8C34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465B3F-7FA8-4DE4-971B-FBCEF77EAC69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82666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9F37A-AC51-49C8-BCA8-989E668BC3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328E9-2C51-4CF0-8981-6710A936032D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07 • BRONZE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59A35-A113-440B-BA47-DFC6EC06E9C5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Bronze Layer — Raw Data Preservation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0E9F2-8954-4171-BA09-B7BAA075F0D9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170EB-AB20-4863-BC42-97914A9BAA0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6E95F9-CF52-4E0A-95FA-099242061A31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E67D66-0FD2-47D4-A25D-E1D750712E4B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79C6F-EA12-431C-9755-016FC7C3660E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TARGET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89B25-69A8-408A-8D8B-DDF2A40EC6FF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grocery_catalog.raw.transaction_records
Delta table containing raw transaction records after ingestion.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E070207-DB0A-4BF2-8FEB-52CAAADAB020}"/>
              </a:ext>
            </a:extLst>
          </p:cNvPr>
          <p:cNvSpPr>
            <a:spLocks noGrp="1"/>
          </p:cNvSpPr>
          <p:nvPr/>
        </p:nvSpPr>
        <p:spPr>
          <a:xfrm>
            <a:off x="4407408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6214C-E673-4EF4-BA7C-8757CC7EC6CA}"/>
              </a:ext>
            </a:extLst>
          </p:cNvPr>
          <p:cNvSpPr>
            <a:spLocks noGrp="1"/>
          </p:cNvSpPr>
          <p:nvPr/>
        </p:nvSpPr>
        <p:spPr>
          <a:xfrm>
            <a:off x="4407408" y="1417320"/>
            <a:ext cx="73152" cy="429768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CF204-BB9A-48DA-9C2C-D5EF8AE66BD3}"/>
              </a:ext>
            </a:extLst>
          </p:cNvPr>
          <p:cNvSpPr>
            <a:spLocks noGrp="1"/>
          </p:cNvSpPr>
          <p:nvPr/>
        </p:nvSpPr>
        <p:spPr>
          <a:xfrm>
            <a:off x="4608576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IMPLEMENTATION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A0033-4FA2-434E-A135-C92D9391E208}"/>
              </a:ext>
            </a:extLst>
          </p:cNvPr>
          <p:cNvSpPr>
            <a:spLocks noGrp="1"/>
          </p:cNvSpPr>
          <p:nvPr/>
        </p:nvSpPr>
        <p:spPr>
          <a:xfrm>
            <a:off x="4608576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• Unity Catalog governance</a:t>
            </a:r>
            <a:br/>
            <a:r>
              <a:t>• External location where applicable</a:t>
            </a:r>
            <a:br/>
            <a:r>
              <a:t>• Preserve source structure</a:t>
            </a:r>
            <a:br/>
            <a:r>
              <a:t>• Capture ingestion metadata</a:t>
            </a:r>
            <a:br/>
            <a:r>
              <a:t>• Support reprocessing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3C134B-E288-4B4D-9582-02024A7C4035}"/>
              </a:ext>
            </a:extLst>
          </p:cNvPr>
          <p:cNvSpPr>
            <a:spLocks noGrp="1"/>
          </p:cNvSpPr>
          <p:nvPr/>
        </p:nvSpPr>
        <p:spPr>
          <a:xfrm>
            <a:off x="8174736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A21A4B-B9E6-466F-BA35-AEAF1FA0AE75}"/>
              </a:ext>
            </a:extLst>
          </p:cNvPr>
          <p:cNvSpPr>
            <a:spLocks noGrp="1"/>
          </p:cNvSpPr>
          <p:nvPr/>
        </p:nvSpPr>
        <p:spPr>
          <a:xfrm>
            <a:off x="8174736" y="1417320"/>
            <a:ext cx="73152" cy="429768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A6E0F4-AB5B-4C91-8501-6608EC1F1A5E}"/>
              </a:ext>
            </a:extLst>
          </p:cNvPr>
          <p:cNvSpPr>
            <a:spLocks noGrp="1"/>
          </p:cNvSpPr>
          <p:nvPr/>
        </p:nvSpPr>
        <p:spPr>
          <a:xfrm>
            <a:off x="8375904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KEY PRINCIPLE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43226-00BD-48EE-A99F-F010E9AB9E46}"/>
              </a:ext>
            </a:extLst>
          </p:cNvPr>
          <p:cNvSpPr>
            <a:spLocks noGrp="1"/>
          </p:cNvSpPr>
          <p:nvPr/>
        </p:nvSpPr>
        <p:spPr>
          <a:xfrm>
            <a:off x="8375904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Bronze preserves raw retail data for traceability and downstream processing.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31E98A-F764-4E92-B068-42854C0DF7C1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0754DC-62E9-4555-A80B-AD54868179F6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089788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0C91C8-C6A4-480C-904C-D46A0BFBC7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3F93A-F553-46F8-96C0-E7AFAE3D0CA5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08 • SILVER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787CD-B8BA-43E3-B7DB-14896F0C2078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Silver Layer — Cleansing &amp; Transformation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B5B89-E947-47A0-809D-D9A41991E050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75E32-EF9D-43FD-9A69-65391F721346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43A127-5117-468A-B4B2-F6C22BB62DB9}"/>
              </a:ext>
            </a:extLst>
          </p:cNvPr>
          <p:cNvSpPr>
            <a:spLocks noGrp="1"/>
          </p:cNvSpPr>
          <p:nvPr/>
        </p:nvSpPr>
        <p:spPr>
          <a:xfrm>
            <a:off x="1463040" y="1463040"/>
            <a:ext cx="594360" cy="59436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98C4D-854F-416E-969C-E2B876719FAE}"/>
              </a:ext>
            </a:extLst>
          </p:cNvPr>
          <p:cNvSpPr>
            <a:spLocks noGrp="1"/>
          </p:cNvSpPr>
          <p:nvPr/>
        </p:nvSpPr>
        <p:spPr>
          <a:xfrm>
            <a:off x="1463040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7AC21-177F-4EB6-AF1B-B7E63A61ED59}"/>
              </a:ext>
            </a:extLst>
          </p:cNvPr>
          <p:cNvSpPr>
            <a:spLocks noGrp="1"/>
          </p:cNvSpPr>
          <p:nvPr/>
        </p:nvSpPr>
        <p:spPr>
          <a:xfrm>
            <a:off x="640080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DEDUPLICATE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F3EC9-9E53-41CF-8153-B916AF7DA604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Remove duplicate transaction records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4B8B48A7-46C5-462A-A8ED-619874876F1D}"/>
              </a:ext>
            </a:extLst>
          </p:cNvPr>
          <p:cNvSpPr>
            <a:spLocks noGrp="1"/>
          </p:cNvSpPr>
          <p:nvPr/>
        </p:nvSpPr>
        <p:spPr>
          <a:xfrm>
            <a:off x="3154680" y="1828800"/>
            <a:ext cx="256031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2DD6C0-E806-46E0-92C0-B2D9DD7E263D}"/>
              </a:ext>
            </a:extLst>
          </p:cNvPr>
          <p:cNvSpPr>
            <a:spLocks noGrp="1"/>
          </p:cNvSpPr>
          <p:nvPr/>
        </p:nvSpPr>
        <p:spPr>
          <a:xfrm>
            <a:off x="4279392" y="1463040"/>
            <a:ext cx="594360" cy="59436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E5C69-104A-4C28-9325-9ECF38FC9A76}"/>
              </a:ext>
            </a:extLst>
          </p:cNvPr>
          <p:cNvSpPr>
            <a:spLocks noGrp="1"/>
          </p:cNvSpPr>
          <p:nvPr/>
        </p:nvSpPr>
        <p:spPr>
          <a:xfrm>
            <a:off x="4279392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5A335D-6FBB-4FC7-A3B3-69F5B7801922}"/>
              </a:ext>
            </a:extLst>
          </p:cNvPr>
          <p:cNvSpPr>
            <a:spLocks noGrp="1"/>
          </p:cNvSpPr>
          <p:nvPr/>
        </p:nvSpPr>
        <p:spPr>
          <a:xfrm>
            <a:off x="3456432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VALIDATE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5D1951-8A3F-4B81-83A1-1822D9AB93A3}"/>
              </a:ext>
            </a:extLst>
          </p:cNvPr>
          <p:cNvSpPr>
            <a:spLocks noGrp="1"/>
          </p:cNvSpPr>
          <p:nvPr/>
        </p:nvSpPr>
        <p:spPr>
          <a:xfrm>
            <a:off x="3593592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Check schema and acceptable values</a:t>
            </a:r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7E1B605B-F73E-4C94-B523-BD9187B15FA2}"/>
              </a:ext>
            </a:extLst>
          </p:cNvPr>
          <p:cNvSpPr>
            <a:spLocks noGrp="1"/>
          </p:cNvSpPr>
          <p:nvPr/>
        </p:nvSpPr>
        <p:spPr>
          <a:xfrm>
            <a:off x="5971032" y="1828800"/>
            <a:ext cx="256032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370A90-2660-4792-88F8-8AA941263A58}"/>
              </a:ext>
            </a:extLst>
          </p:cNvPr>
          <p:cNvSpPr>
            <a:spLocks noGrp="1"/>
          </p:cNvSpPr>
          <p:nvPr/>
        </p:nvSpPr>
        <p:spPr>
          <a:xfrm>
            <a:off x="7095744" y="1463040"/>
            <a:ext cx="594360" cy="59436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7A8DC-0FD2-4883-82C1-11AAAF579F70}"/>
              </a:ext>
            </a:extLst>
          </p:cNvPr>
          <p:cNvSpPr>
            <a:spLocks noGrp="1"/>
          </p:cNvSpPr>
          <p:nvPr/>
        </p:nvSpPr>
        <p:spPr>
          <a:xfrm>
            <a:off x="7095744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5BAF27-33AE-427F-92D5-7D30ED7AF986}"/>
              </a:ext>
            </a:extLst>
          </p:cNvPr>
          <p:cNvSpPr>
            <a:spLocks noGrp="1"/>
          </p:cNvSpPr>
          <p:nvPr/>
        </p:nvSpPr>
        <p:spPr>
          <a:xfrm>
            <a:off x="6272784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STANDARDIZE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27E836-5154-4D00-8EEB-BB29205C51E8}"/>
              </a:ext>
            </a:extLst>
          </p:cNvPr>
          <p:cNvSpPr>
            <a:spLocks noGrp="1"/>
          </p:cNvSpPr>
          <p:nvPr/>
        </p:nvSpPr>
        <p:spPr>
          <a:xfrm>
            <a:off x="6409944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Dates, product codes and types</a:t>
            </a:r>
          </a:p>
        </p:txBody>
      </p:sp>
      <p:sp>
        <p:nvSpPr>
          <p:cNvPr id="21" name="Connector 20">
            <a:extLst>
              <a:ext uri="{FF2B5EF4-FFF2-40B4-BE49-F238E27FC236}">
                <a16:creationId xmlns:a16="http://schemas.microsoft.com/office/drawing/2014/main" id="{A3349EB2-6185-4BFB-9ACB-E78DE48E537F}"/>
              </a:ext>
            </a:extLst>
          </p:cNvPr>
          <p:cNvSpPr>
            <a:spLocks noGrp="1"/>
          </p:cNvSpPr>
          <p:nvPr/>
        </p:nvSpPr>
        <p:spPr>
          <a:xfrm>
            <a:off x="8787384" y="1828800"/>
            <a:ext cx="256032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E2AB02-DAA5-4712-B1C7-C13D6CD53711}"/>
              </a:ext>
            </a:extLst>
          </p:cNvPr>
          <p:cNvSpPr>
            <a:spLocks noGrp="1"/>
          </p:cNvSpPr>
          <p:nvPr/>
        </p:nvSpPr>
        <p:spPr>
          <a:xfrm>
            <a:off x="9912096" y="1463040"/>
            <a:ext cx="594360" cy="59436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AB697-9A24-44E9-909C-9409372F732F}"/>
              </a:ext>
            </a:extLst>
          </p:cNvPr>
          <p:cNvSpPr>
            <a:spLocks noGrp="1"/>
          </p:cNvSpPr>
          <p:nvPr/>
        </p:nvSpPr>
        <p:spPr>
          <a:xfrm>
            <a:off x="9912096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89789E-7FFF-4433-B498-392E32903757}"/>
              </a:ext>
            </a:extLst>
          </p:cNvPr>
          <p:cNvSpPr>
            <a:spLocks noGrp="1"/>
          </p:cNvSpPr>
          <p:nvPr/>
        </p:nvSpPr>
        <p:spPr>
          <a:xfrm>
            <a:off x="9089136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ENRICH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DE9613-6B08-49B2-8A23-D434A0EDC962}"/>
              </a:ext>
            </a:extLst>
          </p:cNvPr>
          <p:cNvSpPr>
            <a:spLocks noGrp="1"/>
          </p:cNvSpPr>
          <p:nvPr/>
        </p:nvSpPr>
        <p:spPr>
          <a:xfrm>
            <a:off x="9226296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Join store, product and category dimensions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2793441-A4F6-4505-945A-6F894BAE7B2C}"/>
              </a:ext>
            </a:extLst>
          </p:cNvPr>
          <p:cNvSpPr>
            <a:spLocks noGrp="1"/>
          </p:cNvSpPr>
          <p:nvPr/>
        </p:nvSpPr>
        <p:spPr>
          <a:xfrm>
            <a:off x="960120" y="3977639"/>
            <a:ext cx="10195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E4A23-51C6-4DD8-91DF-E2F58FE3BEB5}"/>
              </a:ext>
            </a:extLst>
          </p:cNvPr>
          <p:cNvSpPr>
            <a:spLocks noGrp="1"/>
          </p:cNvSpPr>
          <p:nvPr/>
        </p:nvSpPr>
        <p:spPr>
          <a:xfrm>
            <a:off x="1188720" y="4187952"/>
            <a:ext cx="9738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D6548-F4B6-4583-8AEF-95BDF60585BF}"/>
              </a:ext>
            </a:extLst>
          </p:cNvPr>
          <p:cNvSpPr>
            <a:spLocks noGrp="1"/>
          </p:cNvSpPr>
          <p:nvPr/>
        </p:nvSpPr>
        <p:spPr>
          <a:xfrm>
            <a:off x="1188720" y="4498848"/>
            <a:ext cx="973836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grocery_catalog.silver.clean_transactions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FE9F3B-8499-4DE1-9D49-24C92A7FACDD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1B197A-CB32-49CD-8552-F26D914CEB30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61448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2557DE-9BDD-4524-B87D-0922C6FE4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44912-52F5-4E2D-960A-A7F11CE231A3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09 • GOLD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4162E-27FB-43C0-88D3-04DC9CE2768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1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Gold Layer — Retail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0DEABD-C97D-46D4-9916-6ACD37ED070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05475-D75E-46CA-8DD4-4D0B18DB29B3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E5FCA1-B8AD-460F-95F6-F0E5244F5A45}"/>
              </a:ext>
            </a:extLst>
          </p:cNvPr>
          <p:cNvSpPr>
            <a:spLocks noGrp="1"/>
          </p:cNvSpPr>
          <p:nvPr/>
        </p:nvSpPr>
        <p:spPr>
          <a:xfrm>
            <a:off x="640080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0292D8-0BFA-41A8-B6B1-F5525389E59D}"/>
              </a:ext>
            </a:extLst>
          </p:cNvPr>
          <p:cNvSpPr>
            <a:spLocks noGrp="1"/>
          </p:cNvSpPr>
          <p:nvPr/>
        </p:nvSpPr>
        <p:spPr>
          <a:xfrm>
            <a:off x="1536192" y="1664208"/>
            <a:ext cx="502920" cy="50292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845E8-A5CE-4E67-8147-2D20EF4338D2}"/>
              </a:ext>
            </a:extLst>
          </p:cNvPr>
          <p:cNvSpPr>
            <a:spLocks noGrp="1"/>
          </p:cNvSpPr>
          <p:nvPr/>
        </p:nvSpPr>
        <p:spPr>
          <a:xfrm>
            <a:off x="1536192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1FE42-7F23-4BF6-B245-BA85E2062EC3}"/>
              </a:ext>
            </a:extLst>
          </p:cNvPr>
          <p:cNvSpPr>
            <a:spLocks noGrp="1"/>
          </p:cNvSpPr>
          <p:nvPr/>
        </p:nvSpPr>
        <p:spPr>
          <a:xfrm>
            <a:off x="777240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B87C-4AB9-4064-99C3-2750433F7106}"/>
              </a:ext>
            </a:extLst>
          </p:cNvPr>
          <p:cNvSpPr>
            <a:spLocks noGrp="1"/>
          </p:cNvSpPr>
          <p:nvPr/>
        </p:nvSpPr>
        <p:spPr>
          <a:xfrm>
            <a:off x="822959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Sales performance metrics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5B0FB3-5CF9-459C-B155-1AAC7F423740}"/>
              </a:ext>
            </a:extLst>
          </p:cNvPr>
          <p:cNvSpPr>
            <a:spLocks noGrp="1"/>
          </p:cNvSpPr>
          <p:nvPr/>
        </p:nvSpPr>
        <p:spPr>
          <a:xfrm>
            <a:off x="3456432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E228E7-A620-464D-8006-44FF322CA4E3}"/>
              </a:ext>
            </a:extLst>
          </p:cNvPr>
          <p:cNvSpPr>
            <a:spLocks noGrp="1"/>
          </p:cNvSpPr>
          <p:nvPr/>
        </p:nvSpPr>
        <p:spPr>
          <a:xfrm>
            <a:off x="4352544" y="1664208"/>
            <a:ext cx="502920" cy="50292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5E714-5E40-4AC0-AEB2-5B714A93544C}"/>
              </a:ext>
            </a:extLst>
          </p:cNvPr>
          <p:cNvSpPr>
            <a:spLocks noGrp="1"/>
          </p:cNvSpPr>
          <p:nvPr/>
        </p:nvSpPr>
        <p:spPr>
          <a:xfrm>
            <a:off x="4352544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A083EE-3746-41F9-BBEF-591E266345C3}"/>
              </a:ext>
            </a:extLst>
          </p:cNvPr>
          <p:cNvSpPr>
            <a:spLocks noGrp="1"/>
          </p:cNvSpPr>
          <p:nvPr/>
        </p:nvSpPr>
        <p:spPr>
          <a:xfrm>
            <a:off x="3593592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TRENDS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063572-0CED-4FAC-B35E-32129CA3A969}"/>
              </a:ext>
            </a:extLst>
          </p:cNvPr>
          <p:cNvSpPr>
            <a:spLocks noGrp="1"/>
          </p:cNvSpPr>
          <p:nvPr/>
        </p:nvSpPr>
        <p:spPr>
          <a:xfrm>
            <a:off x="3639312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Population / health trends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7004F72-82A1-423B-95C2-F230B36D629E}"/>
              </a:ext>
            </a:extLst>
          </p:cNvPr>
          <p:cNvSpPr>
            <a:spLocks noGrp="1"/>
          </p:cNvSpPr>
          <p:nvPr/>
        </p:nvSpPr>
        <p:spPr>
          <a:xfrm>
            <a:off x="6272784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4CB6D6-5ADC-4695-8266-F78BD5870FA0}"/>
              </a:ext>
            </a:extLst>
          </p:cNvPr>
          <p:cNvSpPr>
            <a:spLocks noGrp="1"/>
          </p:cNvSpPr>
          <p:nvPr/>
        </p:nvSpPr>
        <p:spPr>
          <a:xfrm>
            <a:off x="7168896" y="1664208"/>
            <a:ext cx="502920" cy="50292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1382F-B728-4D00-9054-EC1BDD501295}"/>
              </a:ext>
            </a:extLst>
          </p:cNvPr>
          <p:cNvSpPr>
            <a:spLocks noGrp="1"/>
          </p:cNvSpPr>
          <p:nvPr/>
        </p:nvSpPr>
        <p:spPr>
          <a:xfrm>
            <a:off x="7168896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4F297C-9133-4F04-8140-21BBCBF4E251}"/>
              </a:ext>
            </a:extLst>
          </p:cNvPr>
          <p:cNvSpPr>
            <a:spLocks noGrp="1"/>
          </p:cNvSpPr>
          <p:nvPr/>
        </p:nvSpPr>
        <p:spPr>
          <a:xfrm>
            <a:off x="6409944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QUALITY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E8EBB4-41EF-460A-B9F5-4854D08AF476}"/>
              </a:ext>
            </a:extLst>
          </p:cNvPr>
          <p:cNvSpPr>
            <a:spLocks noGrp="1"/>
          </p:cNvSpPr>
          <p:nvPr/>
        </p:nvSpPr>
        <p:spPr>
          <a:xfrm>
            <a:off x="6455664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Validated analytical outputs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B0EF87F-48EE-4AC2-AD60-03815352E6D8}"/>
              </a:ext>
            </a:extLst>
          </p:cNvPr>
          <p:cNvSpPr>
            <a:spLocks noGrp="1"/>
          </p:cNvSpPr>
          <p:nvPr/>
        </p:nvSpPr>
        <p:spPr>
          <a:xfrm>
            <a:off x="9089136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AB06D03-5117-42CF-B64C-A6AFE8E80601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502920" cy="50292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CA2DA9-FD41-4B86-BF04-A08981922B8F}"/>
              </a:ext>
            </a:extLst>
          </p:cNvPr>
          <p:cNvSpPr>
            <a:spLocks noGrp="1"/>
          </p:cNvSpPr>
          <p:nvPr/>
        </p:nvSpPr>
        <p:spPr>
          <a:xfrm>
            <a:off x="9985248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DE558-0155-44B2-A9EE-1722F2D76430}"/>
              </a:ext>
            </a:extLst>
          </p:cNvPr>
          <p:cNvSpPr>
            <a:spLocks noGrp="1"/>
          </p:cNvSpPr>
          <p:nvPr/>
        </p:nvSpPr>
        <p:spPr>
          <a:xfrm>
            <a:off x="9226296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50E7DA-519E-42BE-83AB-6C9CC2C5F310}"/>
              </a:ext>
            </a:extLst>
          </p:cNvPr>
          <p:cNvSpPr>
            <a:spLocks noGrp="1"/>
          </p:cNvSpPr>
          <p:nvPr/>
        </p:nvSpPr>
        <p:spPr>
          <a:xfrm>
            <a:off x="9272015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Consumption-ready tables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AFC5587-A2B9-4790-8298-0EA8EC9BF763}"/>
              </a:ext>
            </a:extLst>
          </p:cNvPr>
          <p:cNvSpPr>
            <a:spLocks noGrp="1"/>
          </p:cNvSpPr>
          <p:nvPr/>
        </p:nvSpPr>
        <p:spPr>
          <a:xfrm>
            <a:off x="822960" y="3886200"/>
            <a:ext cx="10561320" cy="12344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284E51-3E7B-43B5-9F24-35E26988F573}"/>
              </a:ext>
            </a:extLst>
          </p:cNvPr>
          <p:cNvSpPr>
            <a:spLocks noGrp="1"/>
          </p:cNvSpPr>
          <p:nvPr/>
        </p:nvSpPr>
        <p:spPr>
          <a:xfrm>
            <a:off x="1097280" y="4133087"/>
            <a:ext cx="10012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TARGET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2C1170-027F-4417-9728-9BE4C1D22102}"/>
              </a:ext>
            </a:extLst>
          </p:cNvPr>
          <p:cNvSpPr>
            <a:spLocks noGrp="1"/>
          </p:cNvSpPr>
          <p:nvPr/>
        </p:nvSpPr>
        <p:spPr>
          <a:xfrm>
            <a:off x="1097280" y="4480560"/>
            <a:ext cx="1001268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grocery_catalog.gold.sales_metrics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CB3651-1636-4B93-AEAB-0BE3CD0E4369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50C43A-195F-42EE-9017-06EB0A4A2C16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56788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B25C5F-1CAF-4094-84DB-768732E871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EC350-F6EE-4401-8DC4-7BA88162758F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10 • ETL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875B2-959A-45D8-82EA-D06813117D92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Low-Level Design — Metadata &amp; Rules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EF036-6271-42EF-B7C4-9F93D99DE972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CC135-5325-43FD-9455-C3D62F28A24A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00EB2F-3BF8-4F65-AECA-295CBD357BAF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2D5711-5F0E-4AFB-B25B-76812DFC8831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337560" cy="658368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B3456-59C1-4F10-9786-B07D87B42A61}"/>
              </a:ext>
            </a:extLst>
          </p:cNvPr>
          <p:cNvSpPr>
            <a:spLocks noGrp="1"/>
          </p:cNvSpPr>
          <p:nvPr/>
        </p:nvSpPr>
        <p:spPr>
          <a:xfrm>
            <a:off x="640080" y="1618488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SOURCE METADATA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870703-B4EB-4281-AB8B-48924A8B3297}"/>
              </a:ext>
            </a:extLst>
          </p:cNvPr>
          <p:cNvSpPr>
            <a:spLocks noGrp="1"/>
          </p:cNvSpPr>
          <p:nvPr/>
        </p:nvSpPr>
        <p:spPr>
          <a:xfrm>
            <a:off x="868680" y="2331720"/>
            <a:ext cx="256032" cy="25603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123FA8-2E82-455E-BE50-A252C77BEF14}"/>
              </a:ext>
            </a:extLst>
          </p:cNvPr>
          <p:cNvSpPr>
            <a:spLocks noGrp="1"/>
          </p:cNvSpPr>
          <p:nvPr/>
        </p:nvSpPr>
        <p:spPr>
          <a:xfrm>
            <a:off x="868680" y="2340863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27128A-5D9F-4996-8048-7A1736683480}"/>
              </a:ext>
            </a:extLst>
          </p:cNvPr>
          <p:cNvSpPr>
            <a:spLocks noGrp="1"/>
          </p:cNvSpPr>
          <p:nvPr/>
        </p:nvSpPr>
        <p:spPr>
          <a:xfrm>
            <a:off x="1298448" y="2286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File path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931BEB-C8E1-4A2A-A23D-9050D41C574C}"/>
              </a:ext>
            </a:extLst>
          </p:cNvPr>
          <p:cNvSpPr>
            <a:spLocks noGrp="1"/>
          </p:cNvSpPr>
          <p:nvPr/>
        </p:nvSpPr>
        <p:spPr>
          <a:xfrm>
            <a:off x="868680" y="2953512"/>
            <a:ext cx="256032" cy="25603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70CAC8-AF4D-4EE5-80A9-CC9AC992B394}"/>
              </a:ext>
            </a:extLst>
          </p:cNvPr>
          <p:cNvSpPr>
            <a:spLocks noGrp="1"/>
          </p:cNvSpPr>
          <p:nvPr/>
        </p:nvSpPr>
        <p:spPr>
          <a:xfrm>
            <a:off x="868680" y="2962656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557D20-A107-47BA-A2EC-A47C2AE05BB0}"/>
              </a:ext>
            </a:extLst>
          </p:cNvPr>
          <p:cNvSpPr>
            <a:spLocks noGrp="1"/>
          </p:cNvSpPr>
          <p:nvPr/>
        </p:nvSpPr>
        <p:spPr>
          <a:xfrm>
            <a:off x="1298448" y="2907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Format / schema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FD7B5A-6003-4312-9814-C7FD41FC4F4A}"/>
              </a:ext>
            </a:extLst>
          </p:cNvPr>
          <p:cNvSpPr>
            <a:spLocks noGrp="1"/>
          </p:cNvSpPr>
          <p:nvPr/>
        </p:nvSpPr>
        <p:spPr>
          <a:xfrm>
            <a:off x="868680" y="3575304"/>
            <a:ext cx="256032" cy="25603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B0D7D9-4A56-4B9F-83F8-5E1BADAE34CA}"/>
              </a:ext>
            </a:extLst>
          </p:cNvPr>
          <p:cNvSpPr>
            <a:spLocks noGrp="1"/>
          </p:cNvSpPr>
          <p:nvPr/>
        </p:nvSpPr>
        <p:spPr>
          <a:xfrm>
            <a:off x="868680" y="3584448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0CDD23-62C0-4240-8B83-0F653BFE6514}"/>
              </a:ext>
            </a:extLst>
          </p:cNvPr>
          <p:cNvSpPr>
            <a:spLocks noGrp="1"/>
          </p:cNvSpPr>
          <p:nvPr/>
        </p:nvSpPr>
        <p:spPr>
          <a:xfrm>
            <a:off x="1298448" y="35295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Arrival date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C60915-AF81-4E02-89CD-2E874CB0C415}"/>
              </a:ext>
            </a:extLst>
          </p:cNvPr>
          <p:cNvSpPr>
            <a:spLocks noGrp="1"/>
          </p:cNvSpPr>
          <p:nvPr/>
        </p:nvSpPr>
        <p:spPr>
          <a:xfrm>
            <a:off x="868680" y="4197096"/>
            <a:ext cx="256032" cy="25603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92AC5F-3823-4F40-A530-DE0105D8427D}"/>
              </a:ext>
            </a:extLst>
          </p:cNvPr>
          <p:cNvSpPr>
            <a:spLocks noGrp="1"/>
          </p:cNvSpPr>
          <p:nvPr/>
        </p:nvSpPr>
        <p:spPr>
          <a:xfrm>
            <a:off x="868680" y="4206240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849820-262B-45D6-8690-EDFDC64D9B6E}"/>
              </a:ext>
            </a:extLst>
          </p:cNvPr>
          <p:cNvSpPr>
            <a:spLocks noGrp="1"/>
          </p:cNvSpPr>
          <p:nvPr/>
        </p:nvSpPr>
        <p:spPr>
          <a:xfrm>
            <a:off x="1298448" y="415137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Source attributes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E3AD7A4-CA02-4554-B4D0-7E240D6CB45F}"/>
              </a:ext>
            </a:extLst>
          </p:cNvPr>
          <p:cNvSpPr>
            <a:spLocks noGrp="1"/>
          </p:cNvSpPr>
          <p:nvPr/>
        </p:nvSpPr>
        <p:spPr>
          <a:xfrm>
            <a:off x="4434840" y="141732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C6E582-B5AE-4426-A76E-5643DD0E8330}"/>
              </a:ext>
            </a:extLst>
          </p:cNvPr>
          <p:cNvSpPr>
            <a:spLocks noGrp="1"/>
          </p:cNvSpPr>
          <p:nvPr/>
        </p:nvSpPr>
        <p:spPr>
          <a:xfrm>
            <a:off x="4434840" y="1417320"/>
            <a:ext cx="3337560" cy="658368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8D3F28-EE34-4CCF-957B-C1E626CECCAE}"/>
              </a:ext>
            </a:extLst>
          </p:cNvPr>
          <p:cNvSpPr>
            <a:spLocks noGrp="1"/>
          </p:cNvSpPr>
          <p:nvPr/>
        </p:nvSpPr>
        <p:spPr>
          <a:xfrm>
            <a:off x="4434840" y="1618488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TRANSFORMATION RULES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11FB731-6137-4438-B6C3-BCF9AB7FB46B}"/>
              </a:ext>
            </a:extLst>
          </p:cNvPr>
          <p:cNvSpPr>
            <a:spLocks noGrp="1"/>
          </p:cNvSpPr>
          <p:nvPr/>
        </p:nvSpPr>
        <p:spPr>
          <a:xfrm>
            <a:off x="4663440" y="2331720"/>
            <a:ext cx="256032" cy="25603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54C277-EA00-49E5-B944-148FBE47FED5}"/>
              </a:ext>
            </a:extLst>
          </p:cNvPr>
          <p:cNvSpPr>
            <a:spLocks noGrp="1"/>
          </p:cNvSpPr>
          <p:nvPr/>
        </p:nvSpPr>
        <p:spPr>
          <a:xfrm>
            <a:off x="4663440" y="2340863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1666B3-FB0A-478A-92B8-1070B9D76EAC}"/>
              </a:ext>
            </a:extLst>
          </p:cNvPr>
          <p:cNvSpPr>
            <a:spLocks noGrp="1"/>
          </p:cNvSpPr>
          <p:nvPr/>
        </p:nvSpPr>
        <p:spPr>
          <a:xfrm>
            <a:off x="5093208" y="2286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Parse CSV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C109335-4189-4A3D-809B-C5157EACBA4F}"/>
              </a:ext>
            </a:extLst>
          </p:cNvPr>
          <p:cNvSpPr>
            <a:spLocks noGrp="1"/>
          </p:cNvSpPr>
          <p:nvPr/>
        </p:nvSpPr>
        <p:spPr>
          <a:xfrm>
            <a:off x="4663440" y="2953512"/>
            <a:ext cx="256032" cy="25603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D15CFA-AE98-445C-975B-DDEA80C93D42}"/>
              </a:ext>
            </a:extLst>
          </p:cNvPr>
          <p:cNvSpPr>
            <a:spLocks noGrp="1"/>
          </p:cNvSpPr>
          <p:nvPr/>
        </p:nvSpPr>
        <p:spPr>
          <a:xfrm>
            <a:off x="4663440" y="2962656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DA4AB0-6CC1-4F30-A10C-F39529987F73}"/>
              </a:ext>
            </a:extLst>
          </p:cNvPr>
          <p:cNvSpPr>
            <a:spLocks noGrp="1"/>
          </p:cNvSpPr>
          <p:nvPr/>
        </p:nvSpPr>
        <p:spPr>
          <a:xfrm>
            <a:off x="5093208" y="2907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Deduplicate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DDC37B3-141A-4A24-886D-2C68D4279786}"/>
              </a:ext>
            </a:extLst>
          </p:cNvPr>
          <p:cNvSpPr>
            <a:spLocks noGrp="1"/>
          </p:cNvSpPr>
          <p:nvPr/>
        </p:nvSpPr>
        <p:spPr>
          <a:xfrm>
            <a:off x="4663440" y="3575304"/>
            <a:ext cx="256032" cy="25603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F579BD-F177-4E45-A0DD-28EA43F66B1C}"/>
              </a:ext>
            </a:extLst>
          </p:cNvPr>
          <p:cNvSpPr>
            <a:spLocks noGrp="1"/>
          </p:cNvSpPr>
          <p:nvPr/>
        </p:nvSpPr>
        <p:spPr>
          <a:xfrm>
            <a:off x="4663440" y="3584448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4D3C65-111D-420D-99BB-E63826566FEF}"/>
              </a:ext>
            </a:extLst>
          </p:cNvPr>
          <p:cNvSpPr>
            <a:spLocks noGrp="1"/>
          </p:cNvSpPr>
          <p:nvPr/>
        </p:nvSpPr>
        <p:spPr>
          <a:xfrm>
            <a:off x="5093208" y="35295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Standardize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A8BBD0-3F55-4A8C-A110-B63D281709F3}"/>
              </a:ext>
            </a:extLst>
          </p:cNvPr>
          <p:cNvSpPr>
            <a:spLocks noGrp="1"/>
          </p:cNvSpPr>
          <p:nvPr/>
        </p:nvSpPr>
        <p:spPr>
          <a:xfrm>
            <a:off x="4663440" y="4197096"/>
            <a:ext cx="256032" cy="25603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8F926-FBEF-4FBC-A7E5-679BA3513A39}"/>
              </a:ext>
            </a:extLst>
          </p:cNvPr>
          <p:cNvSpPr>
            <a:spLocks noGrp="1"/>
          </p:cNvSpPr>
          <p:nvPr/>
        </p:nvSpPr>
        <p:spPr>
          <a:xfrm>
            <a:off x="4663440" y="4206240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9871B8-6882-4796-BA06-F3F0DB5A403F}"/>
              </a:ext>
            </a:extLst>
          </p:cNvPr>
          <p:cNvSpPr>
            <a:spLocks noGrp="1"/>
          </p:cNvSpPr>
          <p:nvPr/>
        </p:nvSpPr>
        <p:spPr>
          <a:xfrm>
            <a:off x="5093208" y="415137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Join dimensions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D4FD9F-F9BE-46DF-B239-04D422801827}"/>
              </a:ext>
            </a:extLst>
          </p:cNvPr>
          <p:cNvSpPr>
            <a:spLocks noGrp="1"/>
          </p:cNvSpPr>
          <p:nvPr/>
        </p:nvSpPr>
        <p:spPr>
          <a:xfrm>
            <a:off x="4663440" y="4818888"/>
            <a:ext cx="256032" cy="25603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76D74F-284E-43C9-AA70-290C8DDE38D7}"/>
              </a:ext>
            </a:extLst>
          </p:cNvPr>
          <p:cNvSpPr>
            <a:spLocks noGrp="1"/>
          </p:cNvSpPr>
          <p:nvPr/>
        </p:nvSpPr>
        <p:spPr>
          <a:xfrm>
            <a:off x="4663440" y="4828031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B4F340-CCE8-4D8C-93AA-01542622BF8E}"/>
              </a:ext>
            </a:extLst>
          </p:cNvPr>
          <p:cNvSpPr>
            <a:spLocks noGrp="1"/>
          </p:cNvSpPr>
          <p:nvPr/>
        </p:nvSpPr>
        <p:spPr>
          <a:xfrm>
            <a:off x="5093208" y="47731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Calculate sales metrics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562FB6D-1990-40F6-AF1E-E6A6AA599066}"/>
              </a:ext>
            </a:extLst>
          </p:cNvPr>
          <p:cNvSpPr>
            <a:spLocks noGrp="1"/>
          </p:cNvSpPr>
          <p:nvPr/>
        </p:nvSpPr>
        <p:spPr>
          <a:xfrm>
            <a:off x="8229600" y="141732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C1D9D0B-B94C-4154-A1FD-5397DE057042}"/>
              </a:ext>
            </a:extLst>
          </p:cNvPr>
          <p:cNvSpPr>
            <a:spLocks noGrp="1"/>
          </p:cNvSpPr>
          <p:nvPr/>
        </p:nvSpPr>
        <p:spPr>
          <a:xfrm>
            <a:off x="8229600" y="1417320"/>
            <a:ext cx="3337560" cy="658368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DAD216-543F-47BD-9A47-8A32ED00CB0A}"/>
              </a:ext>
            </a:extLst>
          </p:cNvPr>
          <p:cNvSpPr>
            <a:spLocks noGrp="1"/>
          </p:cNvSpPr>
          <p:nvPr/>
        </p:nvSpPr>
        <p:spPr>
          <a:xfrm>
            <a:off x="8229600" y="1618488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TARGET METADATA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0C5923A-17CC-4584-92FB-F49410EE4B9B}"/>
              </a:ext>
            </a:extLst>
          </p:cNvPr>
          <p:cNvSpPr>
            <a:spLocks noGrp="1"/>
          </p:cNvSpPr>
          <p:nvPr/>
        </p:nvSpPr>
        <p:spPr>
          <a:xfrm>
            <a:off x="8458200" y="2331720"/>
            <a:ext cx="256032" cy="25603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741E2B-EF6A-4CDA-A30E-72EE53018E69}"/>
              </a:ext>
            </a:extLst>
          </p:cNvPr>
          <p:cNvSpPr>
            <a:spLocks noGrp="1"/>
          </p:cNvSpPr>
          <p:nvPr/>
        </p:nvSpPr>
        <p:spPr>
          <a:xfrm>
            <a:off x="8458200" y="2340863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005F8B-775A-424C-8C8D-EC1D36B6D720}"/>
              </a:ext>
            </a:extLst>
          </p:cNvPr>
          <p:cNvSpPr>
            <a:spLocks noGrp="1"/>
          </p:cNvSpPr>
          <p:nvPr/>
        </p:nvSpPr>
        <p:spPr>
          <a:xfrm>
            <a:off x="8887968" y="2286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Catalog / schema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FBD0E0-E72D-4CAA-B57A-80412B25D3A7}"/>
              </a:ext>
            </a:extLst>
          </p:cNvPr>
          <p:cNvSpPr>
            <a:spLocks noGrp="1"/>
          </p:cNvSpPr>
          <p:nvPr/>
        </p:nvSpPr>
        <p:spPr>
          <a:xfrm>
            <a:off x="8458200" y="2953512"/>
            <a:ext cx="256032" cy="25603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198A73-3C3A-4DFB-AD98-1783FE52AD69}"/>
              </a:ext>
            </a:extLst>
          </p:cNvPr>
          <p:cNvSpPr>
            <a:spLocks noGrp="1"/>
          </p:cNvSpPr>
          <p:nvPr/>
        </p:nvSpPr>
        <p:spPr>
          <a:xfrm>
            <a:off x="8458200" y="2962656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C57DFB-F3CF-4B70-8952-3153078C3929}"/>
              </a:ext>
            </a:extLst>
          </p:cNvPr>
          <p:cNvSpPr>
            <a:spLocks noGrp="1"/>
          </p:cNvSpPr>
          <p:nvPr/>
        </p:nvSpPr>
        <p:spPr>
          <a:xfrm>
            <a:off x="8887968" y="2907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Table name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D7DDFA3-CCA0-4DE5-B423-12FB3311981A}"/>
              </a:ext>
            </a:extLst>
          </p:cNvPr>
          <p:cNvSpPr>
            <a:spLocks noGrp="1"/>
          </p:cNvSpPr>
          <p:nvPr/>
        </p:nvSpPr>
        <p:spPr>
          <a:xfrm>
            <a:off x="8458200" y="3575304"/>
            <a:ext cx="256032" cy="25603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E87244-9FFF-488B-B0D8-0BD3BF231C9D}"/>
              </a:ext>
            </a:extLst>
          </p:cNvPr>
          <p:cNvSpPr>
            <a:spLocks noGrp="1"/>
          </p:cNvSpPr>
          <p:nvPr/>
        </p:nvSpPr>
        <p:spPr>
          <a:xfrm>
            <a:off x="8458200" y="3584448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14EA10-D39A-4CBB-AFFC-6E259971097E}"/>
              </a:ext>
            </a:extLst>
          </p:cNvPr>
          <p:cNvSpPr>
            <a:spLocks noGrp="1"/>
          </p:cNvSpPr>
          <p:nvPr/>
        </p:nvSpPr>
        <p:spPr>
          <a:xfrm>
            <a:off x="8887968" y="35295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Data types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D69AA3D-E75C-43F6-A370-1397E7F2F4E3}"/>
              </a:ext>
            </a:extLst>
          </p:cNvPr>
          <p:cNvSpPr>
            <a:spLocks noGrp="1"/>
          </p:cNvSpPr>
          <p:nvPr/>
        </p:nvSpPr>
        <p:spPr>
          <a:xfrm>
            <a:off x="8458200" y="4197096"/>
            <a:ext cx="256032" cy="25603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634F11-0DD7-449A-ACAE-B33B6D2E98E4}"/>
              </a:ext>
            </a:extLst>
          </p:cNvPr>
          <p:cNvSpPr>
            <a:spLocks noGrp="1"/>
          </p:cNvSpPr>
          <p:nvPr/>
        </p:nvSpPr>
        <p:spPr>
          <a:xfrm>
            <a:off x="8458200" y="4206240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D7D332-A60E-48D2-A759-AD2BD5E6F0DA}"/>
              </a:ext>
            </a:extLst>
          </p:cNvPr>
          <p:cNvSpPr>
            <a:spLocks noGrp="1"/>
          </p:cNvSpPr>
          <p:nvPr/>
        </p:nvSpPr>
        <p:spPr>
          <a:xfrm>
            <a:off x="8887968" y="415137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Partition strategy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F0A9956-47D4-444A-8A57-52E67F16A17A}"/>
              </a:ext>
            </a:extLst>
          </p:cNvPr>
          <p:cNvSpPr>
            <a:spLocks noGrp="1"/>
          </p:cNvSpPr>
          <p:nvPr/>
        </p:nvSpPr>
        <p:spPr>
          <a:xfrm>
            <a:off x="8458200" y="4818888"/>
            <a:ext cx="256032" cy="25603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D0D6C4-1A03-4266-861D-1A76F1BF6463}"/>
              </a:ext>
            </a:extLst>
          </p:cNvPr>
          <p:cNvSpPr>
            <a:spLocks noGrp="1"/>
          </p:cNvSpPr>
          <p:nvPr/>
        </p:nvSpPr>
        <p:spPr>
          <a:xfrm>
            <a:off x="8458200" y="4828031"/>
            <a:ext cx="2560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3B45B5-1A16-4F16-BD02-FACF73A89A02}"/>
              </a:ext>
            </a:extLst>
          </p:cNvPr>
          <p:cNvSpPr>
            <a:spLocks noGrp="1"/>
          </p:cNvSpPr>
          <p:nvPr/>
        </p:nvSpPr>
        <p:spPr>
          <a:xfrm>
            <a:off x="8887968" y="47731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Load status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6F7429-0C6A-40FA-86CC-FC2E0170E283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E24F1D-9077-4D8B-B5DC-24AE940FB2C1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8986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2C789F-807A-434E-8358-3A9DBBD3A9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F8A06-8621-41DA-A8DF-97F90F2DFBDC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11 • CONSUMPTION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0D645-C6A6-4A99-A295-4C3713C340C4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1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Dashboards &amp; Retail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DF6E3-49BC-4D83-93DC-9D8E8F0D013E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0CDC8-509D-4C49-9D58-C4BE8C598093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B69236-00BC-4319-AB7B-4E3F9DB543CD}"/>
              </a:ext>
            </a:extLst>
          </p:cNvPr>
          <p:cNvSpPr>
            <a:spLocks noGrp="1"/>
          </p:cNvSpPr>
          <p:nvPr/>
        </p:nvSpPr>
        <p:spPr>
          <a:xfrm>
            <a:off x="640080" y="137160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EB37B0-3A98-4633-81BC-E597467CBCEB}"/>
              </a:ext>
            </a:extLst>
          </p:cNvPr>
          <p:cNvSpPr>
            <a:spLocks noGrp="1"/>
          </p:cNvSpPr>
          <p:nvPr/>
        </p:nvSpPr>
        <p:spPr>
          <a:xfrm>
            <a:off x="914400" y="1627632"/>
            <a:ext cx="3657600" cy="289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 ANALYTICS DASHBOARD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C6BCD1-FD73-4370-AD30-FFBB2793E0FB}"/>
              </a:ext>
            </a:extLst>
          </p:cNvPr>
          <p:cNvSpPr>
            <a:spLocks noGrp="1"/>
          </p:cNvSpPr>
          <p:nvPr/>
        </p:nvSpPr>
        <p:spPr>
          <a:xfrm>
            <a:off x="914400" y="2103120"/>
            <a:ext cx="2240280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40668-894A-4AD8-86F4-8190060D54E5}"/>
              </a:ext>
            </a:extLst>
          </p:cNvPr>
          <p:cNvSpPr>
            <a:spLocks noGrp="1"/>
          </p:cNvSpPr>
          <p:nvPr/>
        </p:nvSpPr>
        <p:spPr>
          <a:xfrm>
            <a:off x="1051560" y="2304288"/>
            <a:ext cx="1965960" cy="236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TRANSACTIONS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E5C0C-E93D-4EF7-A8D9-52A012432601}"/>
              </a:ext>
            </a:extLst>
          </p:cNvPr>
          <p:cNvSpPr>
            <a:spLocks noGrp="1"/>
          </p:cNvSpPr>
          <p:nvPr/>
        </p:nvSpPr>
        <p:spPr>
          <a:xfrm>
            <a:off x="1051560" y="2587752"/>
            <a:ext cx="196596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48.2K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D40B66B-7EBA-4CF6-8422-7FCC91D40B2E}"/>
              </a:ext>
            </a:extLst>
          </p:cNvPr>
          <p:cNvSpPr>
            <a:spLocks noGrp="1"/>
          </p:cNvSpPr>
          <p:nvPr/>
        </p:nvSpPr>
        <p:spPr>
          <a:xfrm>
            <a:off x="3474720" y="2103120"/>
            <a:ext cx="2240280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E228B6-FAF8-4FFF-ABE5-68AB2932BCFB}"/>
              </a:ext>
            </a:extLst>
          </p:cNvPr>
          <p:cNvSpPr>
            <a:spLocks noGrp="1"/>
          </p:cNvSpPr>
          <p:nvPr/>
        </p:nvSpPr>
        <p:spPr>
          <a:xfrm>
            <a:off x="3611879" y="2304288"/>
            <a:ext cx="1965960" cy="236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TOP CATEGORY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22422-1C5E-4BA9-A16A-166FB0ABBCEA}"/>
              </a:ext>
            </a:extLst>
          </p:cNvPr>
          <p:cNvSpPr>
            <a:spLocks noGrp="1"/>
          </p:cNvSpPr>
          <p:nvPr/>
        </p:nvSpPr>
        <p:spPr>
          <a:xfrm>
            <a:off x="3611879" y="2587752"/>
            <a:ext cx="196596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0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Produce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91D028-B2CA-434F-A328-F7D2802445B2}"/>
              </a:ext>
            </a:extLst>
          </p:cNvPr>
          <p:cNvSpPr>
            <a:spLocks noGrp="1"/>
          </p:cNvSpPr>
          <p:nvPr/>
        </p:nvSpPr>
        <p:spPr>
          <a:xfrm>
            <a:off x="6035040" y="2103120"/>
            <a:ext cx="2240280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1543B-0ED8-4D23-A48D-4367B3970EA2}"/>
              </a:ext>
            </a:extLst>
          </p:cNvPr>
          <p:cNvSpPr>
            <a:spLocks noGrp="1"/>
          </p:cNvSpPr>
          <p:nvPr/>
        </p:nvSpPr>
        <p:spPr>
          <a:xfrm>
            <a:off x="6172200" y="230428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CLEAN RECORDS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A95903-CF9C-4086-8FF3-16DDAE29EB90}"/>
              </a:ext>
            </a:extLst>
          </p:cNvPr>
          <p:cNvSpPr>
            <a:spLocks noGrp="1"/>
          </p:cNvSpPr>
          <p:nvPr/>
        </p:nvSpPr>
        <p:spPr>
          <a:xfrm>
            <a:off x="6172200" y="258775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0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98.6%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B74F8A6-2C4D-4CA0-9AA0-A7AC1CE5719B}"/>
              </a:ext>
            </a:extLst>
          </p:cNvPr>
          <p:cNvSpPr>
            <a:spLocks noGrp="1"/>
          </p:cNvSpPr>
          <p:nvPr/>
        </p:nvSpPr>
        <p:spPr>
          <a:xfrm>
            <a:off x="8595359" y="2103120"/>
            <a:ext cx="2240280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61754-1713-4DA0-A300-665F0F30A915}"/>
              </a:ext>
            </a:extLst>
          </p:cNvPr>
          <p:cNvSpPr>
            <a:spLocks noGrp="1"/>
          </p:cNvSpPr>
          <p:nvPr/>
        </p:nvSpPr>
        <p:spPr>
          <a:xfrm>
            <a:off x="8732519" y="230428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DATA FRESHNESS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C4B694-AD5F-405C-A2D3-1A7E2CBAB0A7}"/>
              </a:ext>
            </a:extLst>
          </p:cNvPr>
          <p:cNvSpPr>
            <a:spLocks noGrp="1"/>
          </p:cNvSpPr>
          <p:nvPr/>
        </p:nvSpPr>
        <p:spPr>
          <a:xfrm>
            <a:off x="8732519" y="258775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0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2 AM UTC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6CDF4A-D181-4A46-B58B-88BB412D266F}"/>
              </a:ext>
            </a:extLst>
          </p:cNvPr>
          <p:cNvSpPr>
            <a:spLocks noGrp="1"/>
          </p:cNvSpPr>
          <p:nvPr/>
        </p:nvSpPr>
        <p:spPr>
          <a:xfrm>
            <a:off x="914400" y="3520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SALES DISTRIBUTION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679705-77BD-47F3-8666-55AB5AE6D720}"/>
              </a:ext>
            </a:extLst>
          </p:cNvPr>
          <p:cNvSpPr>
            <a:spLocks noGrp="1"/>
          </p:cNvSpPr>
          <p:nvPr/>
        </p:nvSpPr>
        <p:spPr>
          <a:xfrm>
            <a:off x="1051560" y="4160520"/>
            <a:ext cx="274320" cy="91440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24300C-FA52-406D-8E09-C10357913E93}"/>
              </a:ext>
            </a:extLst>
          </p:cNvPr>
          <p:cNvSpPr>
            <a:spLocks noGrp="1"/>
          </p:cNvSpPr>
          <p:nvPr/>
        </p:nvSpPr>
        <p:spPr>
          <a:xfrm>
            <a:off x="1490472" y="3657600"/>
            <a:ext cx="274320" cy="14173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DF204B-27DF-450A-907B-699858DC1FAB}"/>
              </a:ext>
            </a:extLst>
          </p:cNvPr>
          <p:cNvSpPr>
            <a:spLocks noGrp="1"/>
          </p:cNvSpPr>
          <p:nvPr/>
        </p:nvSpPr>
        <p:spPr>
          <a:xfrm>
            <a:off x="1929384" y="4206240"/>
            <a:ext cx="274320" cy="86868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62A02-F5BA-40DB-8ABC-A3EED7F4B1D8}"/>
              </a:ext>
            </a:extLst>
          </p:cNvPr>
          <p:cNvSpPr>
            <a:spLocks noGrp="1"/>
          </p:cNvSpPr>
          <p:nvPr/>
        </p:nvSpPr>
        <p:spPr>
          <a:xfrm>
            <a:off x="2368296" y="3154679"/>
            <a:ext cx="274320" cy="192024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BBF7D6-3D66-4AD4-905E-CC9D06EB5D38}"/>
              </a:ext>
            </a:extLst>
          </p:cNvPr>
          <p:cNvSpPr>
            <a:spLocks noGrp="1"/>
          </p:cNvSpPr>
          <p:nvPr/>
        </p:nvSpPr>
        <p:spPr>
          <a:xfrm>
            <a:off x="2807208" y="3840479"/>
            <a:ext cx="274320" cy="123444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2635C4-8FED-4F89-9ABB-452564DB8143}"/>
              </a:ext>
            </a:extLst>
          </p:cNvPr>
          <p:cNvSpPr>
            <a:spLocks noGrp="1"/>
          </p:cNvSpPr>
          <p:nvPr/>
        </p:nvSpPr>
        <p:spPr>
          <a:xfrm>
            <a:off x="3246120" y="3474720"/>
            <a:ext cx="274320" cy="160020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95B002-DDE7-4245-9561-89D7603357E6}"/>
              </a:ext>
            </a:extLst>
          </p:cNvPr>
          <p:cNvSpPr>
            <a:spLocks noGrp="1"/>
          </p:cNvSpPr>
          <p:nvPr/>
        </p:nvSpPr>
        <p:spPr>
          <a:xfrm>
            <a:off x="4389120" y="35204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KEY INSIGHTS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5701F2-6CAE-4AD0-941A-DBA6F1A5E4D8}"/>
              </a:ext>
            </a:extLst>
          </p:cNvPr>
          <p:cNvSpPr>
            <a:spLocks noGrp="1"/>
          </p:cNvSpPr>
          <p:nvPr/>
        </p:nvSpPr>
        <p:spPr>
          <a:xfrm>
            <a:off x="4389120" y="3886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  <a:defRPr sz="11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Sales trends by store and category</a:t>
            </a:r>
          </a:p>
          <a:p>
            <a:pPr>
              <a:spcAft>
                <a:spcPts val="800"/>
              </a:spcAft>
              <a:buNone/>
              <a:defRPr sz="11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Inventory and basket metrics</a:t>
            </a:r>
          </a:p>
          <a:p>
            <a:pPr>
              <a:spcAft>
                <a:spcPts val="800"/>
              </a:spcAft>
              <a:buNone/>
              <a:defRPr sz="11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Analytics-ready reporting tables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F72E30-9AA9-4C43-94D7-B346D2FF6AD3}"/>
              </a:ext>
            </a:extLst>
          </p:cNvPr>
          <p:cNvSpPr>
            <a:spLocks noGrp="1"/>
          </p:cNvSpPr>
          <p:nvPr/>
        </p:nvSpPr>
        <p:spPr>
          <a:xfrm>
            <a:off x="7863840" y="35204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CONSUMPTION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B95AE1-BFA5-4DDF-BFC7-1561DA8AC3AF}"/>
              </a:ext>
            </a:extLst>
          </p:cNvPr>
          <p:cNvSpPr>
            <a:spLocks noGrp="1"/>
          </p:cNvSpPr>
          <p:nvPr/>
        </p:nvSpPr>
        <p:spPr>
          <a:xfrm>
            <a:off x="7863840" y="3931920"/>
            <a:ext cx="2743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Gold tables provide consistent, trusted data for dashboards and decision support.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A955EE-306A-4795-A7C0-8316E4E2658F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CB00D1-0464-4EEE-998B-A8C1D20A05FB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01169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46C-7CB5-420A-92C1-32B876CCD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BF122-3630-476C-9163-D7F1CF4BF80D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12 •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B9502-4785-4597-B388-858FC064E592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Alerts, Monitoring &amp; Logging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362A3-B6FC-484A-8787-F65C7FF65F3C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4521F-0B68-48F1-80EB-E3105078DC8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9F59BF-1BC6-4C63-B041-A937FB55342F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704D41-CD71-4BD9-980F-674C9834B504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4929E-2200-4FCA-A897-90D3027EDF70}"/>
              </a:ext>
            </a:extLst>
          </p:cNvPr>
          <p:cNvSpPr>
            <a:spLocks noGrp="1"/>
          </p:cNvSpPr>
          <p:nvPr/>
        </p:nvSpPr>
        <p:spPr>
          <a:xfrm>
            <a:off x="914400" y="1837943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A1034-C845-49E4-ABC3-32D264C401CD}"/>
              </a:ext>
            </a:extLst>
          </p:cNvPr>
          <p:cNvSpPr>
            <a:spLocks noGrp="1"/>
          </p:cNvSpPr>
          <p:nvPr/>
        </p:nvSpPr>
        <p:spPr>
          <a:xfrm>
            <a:off x="1691639" y="173736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PIPELINE FAILURE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F4130-4CA8-4F73-843C-87281E467B58}"/>
              </a:ext>
            </a:extLst>
          </p:cNvPr>
          <p:cNvSpPr>
            <a:spLocks noGrp="1"/>
          </p:cNvSpPr>
          <p:nvPr/>
        </p:nvSpPr>
        <p:spPr>
          <a:xfrm>
            <a:off x="1691639" y="217627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Notify the team when ETL jobs fail.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048CC5-6F68-407F-81C4-2C216D0869C3}"/>
              </a:ext>
            </a:extLst>
          </p:cNvPr>
          <p:cNvSpPr>
            <a:spLocks noGrp="1"/>
          </p:cNvSpPr>
          <p:nvPr/>
        </p:nvSpPr>
        <p:spPr>
          <a:xfrm>
            <a:off x="626364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6125B4-A441-4102-8939-C0FD503C0205}"/>
              </a:ext>
            </a:extLst>
          </p:cNvPr>
          <p:cNvSpPr>
            <a:spLocks noGrp="1"/>
          </p:cNvSpPr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EE5163-608B-4724-BA51-9D61367726DB}"/>
              </a:ext>
            </a:extLst>
          </p:cNvPr>
          <p:cNvSpPr>
            <a:spLocks noGrp="1"/>
          </p:cNvSpPr>
          <p:nvPr/>
        </p:nvSpPr>
        <p:spPr>
          <a:xfrm>
            <a:off x="6537960" y="1837943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4E6AC0-6CF5-42B2-82EF-96FD7E873DEF}"/>
              </a:ext>
            </a:extLst>
          </p:cNvPr>
          <p:cNvSpPr>
            <a:spLocks noGrp="1"/>
          </p:cNvSpPr>
          <p:nvPr/>
        </p:nvSpPr>
        <p:spPr>
          <a:xfrm>
            <a:off x="7315200" y="173736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 ANOMALY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262F9-0661-42FD-AB35-4B6272D381C9}"/>
              </a:ext>
            </a:extLst>
          </p:cNvPr>
          <p:cNvSpPr>
            <a:spLocks noGrp="1"/>
          </p:cNvSpPr>
          <p:nvPr/>
        </p:nvSpPr>
        <p:spPr>
          <a:xfrm>
            <a:off x="7315200" y="217627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Flag quality or unexpected data conditions.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2A442BB-818A-44FE-8FA1-557BABAE3B73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6B865A-18E6-4FDE-9DF2-FEC43C5362E8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594360" cy="59436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436012-FF0C-4060-832C-6C474156B2C9}"/>
              </a:ext>
            </a:extLst>
          </p:cNvPr>
          <p:cNvSpPr>
            <a:spLocks noGrp="1"/>
          </p:cNvSpPr>
          <p:nvPr/>
        </p:nvSpPr>
        <p:spPr>
          <a:xfrm>
            <a:off x="914400" y="39867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BDC0F9-24A4-4F42-8D19-AF262E86A952}"/>
              </a:ext>
            </a:extLst>
          </p:cNvPr>
          <p:cNvSpPr>
            <a:spLocks noGrp="1"/>
          </p:cNvSpPr>
          <p:nvPr/>
        </p:nvSpPr>
        <p:spPr>
          <a:xfrm>
            <a:off x="1691639" y="388620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SLACK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06FF09-39B6-4A48-A3A3-D62BD3A790FE}"/>
              </a:ext>
            </a:extLst>
          </p:cNvPr>
          <p:cNvSpPr>
            <a:spLocks noGrp="1"/>
          </p:cNvSpPr>
          <p:nvPr/>
        </p:nvSpPr>
        <p:spPr>
          <a:xfrm>
            <a:off x="1691639" y="432511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Send operational notifications in real time.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58B7452-340F-4502-AB34-D6D81A674B84}"/>
              </a:ext>
            </a:extLst>
          </p:cNvPr>
          <p:cNvSpPr>
            <a:spLocks noGrp="1"/>
          </p:cNvSpPr>
          <p:nvPr/>
        </p:nvSpPr>
        <p:spPr>
          <a:xfrm>
            <a:off x="626364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ACE4C1-4708-480F-B000-8607C19523F1}"/>
              </a:ext>
            </a:extLst>
          </p:cNvPr>
          <p:cNvSpPr>
            <a:spLocks noGrp="1"/>
          </p:cNvSpPr>
          <p:nvPr/>
        </p:nvSpPr>
        <p:spPr>
          <a:xfrm>
            <a:off x="6537960" y="3977640"/>
            <a:ext cx="594360" cy="59436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4E7B1E-7046-429F-82E2-47EB5E9FB651}"/>
              </a:ext>
            </a:extLst>
          </p:cNvPr>
          <p:cNvSpPr>
            <a:spLocks noGrp="1"/>
          </p:cNvSpPr>
          <p:nvPr/>
        </p:nvSpPr>
        <p:spPr>
          <a:xfrm>
            <a:off x="6537960" y="39867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DBB626-2F2D-400E-8A79-08584B8A6B60}"/>
              </a:ext>
            </a:extLst>
          </p:cNvPr>
          <p:cNvSpPr>
            <a:spLocks noGrp="1"/>
          </p:cNvSpPr>
          <p:nvPr/>
        </p:nvSpPr>
        <p:spPr>
          <a:xfrm>
            <a:off x="7315200" y="388620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ERROR LOG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CE1626-AD03-448B-89E2-50BFAE8B651A}"/>
              </a:ext>
            </a:extLst>
          </p:cNvPr>
          <p:cNvSpPr>
            <a:spLocks noGrp="1"/>
          </p:cNvSpPr>
          <p:nvPr/>
        </p:nvSpPr>
        <p:spPr>
          <a:xfrm>
            <a:off x="7315200" y="432511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Store failures and abnormal records for troubleshooting.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1677A33-B8F8-4D12-9D29-97CE8F347077}"/>
              </a:ext>
            </a:extLst>
          </p:cNvPr>
          <p:cNvSpPr>
            <a:spLocks noGrp="1"/>
          </p:cNvSpPr>
          <p:nvPr/>
        </p:nvSpPr>
        <p:spPr>
          <a:xfrm>
            <a:off x="1920240" y="5532120"/>
            <a:ext cx="8321040" cy="475488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9C13D4-B171-4364-9976-5F2A4C0BAE1B}"/>
              </a:ext>
            </a:extLst>
          </p:cNvPr>
          <p:cNvSpPr>
            <a:spLocks noGrp="1"/>
          </p:cNvSpPr>
          <p:nvPr/>
        </p:nvSpPr>
        <p:spPr>
          <a:xfrm>
            <a:off x="1920240" y="5641848"/>
            <a:ext cx="832104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grocery_catalog.logs.etl_errors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4F7FF6-9AA0-41A9-A37D-6B2DC474A27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07CF18-7A8C-4543-B230-8DA84A889A74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70843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B69651-F745-4A51-A336-01896F0BB5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0E9C5-E08D-495E-909D-05E7BDCCC09A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13 • ORCHESTRATION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392B2-AADE-4A1A-AAE7-0B80856F540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Airflow Pipeline Automation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5CD64-C378-446E-962A-0F7D059F6C99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133A9-002E-4889-94F7-654D10C9206A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832B30-CD53-4CE9-9D9F-60890809A765}"/>
              </a:ext>
            </a:extLst>
          </p:cNvPr>
          <p:cNvSpPr>
            <a:spLocks noGrp="1"/>
          </p:cNvSpPr>
          <p:nvPr/>
        </p:nvSpPr>
        <p:spPr>
          <a:xfrm>
            <a:off x="502920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38563E-2615-4BAF-B3C9-303CF30B95CC}"/>
              </a:ext>
            </a:extLst>
          </p:cNvPr>
          <p:cNvSpPr>
            <a:spLocks noGrp="1"/>
          </p:cNvSpPr>
          <p:nvPr/>
        </p:nvSpPr>
        <p:spPr>
          <a:xfrm>
            <a:off x="502920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C2CE8-6E7F-4490-A327-147E2A3BF9F2}"/>
              </a:ext>
            </a:extLst>
          </p:cNvPr>
          <p:cNvSpPr>
            <a:spLocks noGrp="1"/>
          </p:cNvSpPr>
          <p:nvPr/>
        </p:nvSpPr>
        <p:spPr>
          <a:xfrm>
            <a:off x="612648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Daily trigger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7411566A-B4BD-427E-8FED-7F6DF211D4A2}"/>
              </a:ext>
            </a:extLst>
          </p:cNvPr>
          <p:cNvSpPr>
            <a:spLocks noGrp="1"/>
          </p:cNvSpPr>
          <p:nvPr/>
        </p:nvSpPr>
        <p:spPr>
          <a:xfrm>
            <a:off x="2093976" y="2450592"/>
            <a:ext cx="310896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C576ADD-3EF7-4BEA-8D0C-F02A30D93B68}"/>
              </a:ext>
            </a:extLst>
          </p:cNvPr>
          <p:cNvSpPr>
            <a:spLocks noGrp="1"/>
          </p:cNvSpPr>
          <p:nvPr/>
        </p:nvSpPr>
        <p:spPr>
          <a:xfrm>
            <a:off x="2441448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03151-082A-4E2F-962B-A9238996386F}"/>
              </a:ext>
            </a:extLst>
          </p:cNvPr>
          <p:cNvSpPr>
            <a:spLocks noGrp="1"/>
          </p:cNvSpPr>
          <p:nvPr/>
        </p:nvSpPr>
        <p:spPr>
          <a:xfrm>
            <a:off x="2441448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INGEST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58A44D-7B7E-48D4-958F-2F92D5D73E00}"/>
              </a:ext>
            </a:extLst>
          </p:cNvPr>
          <p:cNvSpPr>
            <a:spLocks noGrp="1"/>
          </p:cNvSpPr>
          <p:nvPr/>
        </p:nvSpPr>
        <p:spPr>
          <a:xfrm>
            <a:off x="2551176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ADF / storage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20194567-A0AE-4367-8920-6102399C9949}"/>
              </a:ext>
            </a:extLst>
          </p:cNvPr>
          <p:cNvSpPr>
            <a:spLocks noGrp="1"/>
          </p:cNvSpPr>
          <p:nvPr/>
        </p:nvSpPr>
        <p:spPr>
          <a:xfrm>
            <a:off x="4032504" y="2450592"/>
            <a:ext cx="310896" cy="0"/>
          </a:xfrm>
          <a:prstGeom prst="line">
            <a:avLst/>
          </a:prstGeom>
          <a:ln w="31750">
            <a:solidFill>
              <a:srgbClr val="28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3B43A33-963F-4A30-92E4-B4B2544F4557}"/>
              </a:ext>
            </a:extLst>
          </p:cNvPr>
          <p:cNvSpPr>
            <a:spLocks noGrp="1"/>
          </p:cNvSpPr>
          <p:nvPr/>
        </p:nvSpPr>
        <p:spPr>
          <a:xfrm>
            <a:off x="4379976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62730-3DC6-4D45-AE54-DEFADCB5AFA0}"/>
              </a:ext>
            </a:extLst>
          </p:cNvPr>
          <p:cNvSpPr>
            <a:spLocks noGrp="1"/>
          </p:cNvSpPr>
          <p:nvPr/>
        </p:nvSpPr>
        <p:spPr>
          <a:xfrm>
            <a:off x="4379976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40F96C-B439-4C39-904D-1C592381C536}"/>
              </a:ext>
            </a:extLst>
          </p:cNvPr>
          <p:cNvSpPr>
            <a:spLocks noGrp="1"/>
          </p:cNvSpPr>
          <p:nvPr/>
        </p:nvSpPr>
        <p:spPr>
          <a:xfrm>
            <a:off x="4489704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Delta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B01BA820-37AA-4C76-B054-51C0CDB6E1B7}"/>
              </a:ext>
            </a:extLst>
          </p:cNvPr>
          <p:cNvSpPr>
            <a:spLocks noGrp="1"/>
          </p:cNvSpPr>
          <p:nvPr/>
        </p:nvSpPr>
        <p:spPr>
          <a:xfrm>
            <a:off x="5971032" y="2450592"/>
            <a:ext cx="310896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81C521-05E9-42F0-9B0A-32E7064F828E}"/>
              </a:ext>
            </a:extLst>
          </p:cNvPr>
          <p:cNvSpPr>
            <a:spLocks noGrp="1"/>
          </p:cNvSpPr>
          <p:nvPr/>
        </p:nvSpPr>
        <p:spPr>
          <a:xfrm>
            <a:off x="6318504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5E9F0A-C72C-43B4-86B8-4A247E49EB74}"/>
              </a:ext>
            </a:extLst>
          </p:cNvPr>
          <p:cNvSpPr>
            <a:spLocks noGrp="1"/>
          </p:cNvSpPr>
          <p:nvPr/>
        </p:nvSpPr>
        <p:spPr>
          <a:xfrm>
            <a:off x="6318504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C05356-2232-4C40-B250-88C344805CC3}"/>
              </a:ext>
            </a:extLst>
          </p:cNvPr>
          <p:cNvSpPr>
            <a:spLocks noGrp="1"/>
          </p:cNvSpPr>
          <p:nvPr/>
        </p:nvSpPr>
        <p:spPr>
          <a:xfrm>
            <a:off x="6428232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 + enrich</a:t>
            </a:r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A46DB21A-D9DA-4969-BCEA-FB9A6F0AB81D}"/>
              </a:ext>
            </a:extLst>
          </p:cNvPr>
          <p:cNvSpPr>
            <a:spLocks noGrp="1"/>
          </p:cNvSpPr>
          <p:nvPr/>
        </p:nvSpPr>
        <p:spPr>
          <a:xfrm>
            <a:off x="7909560" y="2450592"/>
            <a:ext cx="310896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897F2E3-79B3-4EFA-8657-EBD23611CCA2}"/>
              </a:ext>
            </a:extLst>
          </p:cNvPr>
          <p:cNvSpPr>
            <a:spLocks noGrp="1"/>
          </p:cNvSpPr>
          <p:nvPr/>
        </p:nvSpPr>
        <p:spPr>
          <a:xfrm>
            <a:off x="8257032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8A6726-4103-4E14-A6E7-C1B6439DC811}"/>
              </a:ext>
            </a:extLst>
          </p:cNvPr>
          <p:cNvSpPr>
            <a:spLocks noGrp="1"/>
          </p:cNvSpPr>
          <p:nvPr/>
        </p:nvSpPr>
        <p:spPr>
          <a:xfrm>
            <a:off x="8257032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9CB63C-78A8-4172-AC3C-89765BC6810A}"/>
              </a:ext>
            </a:extLst>
          </p:cNvPr>
          <p:cNvSpPr>
            <a:spLocks noGrp="1"/>
          </p:cNvSpPr>
          <p:nvPr/>
        </p:nvSpPr>
        <p:spPr>
          <a:xfrm>
            <a:off x="8366760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Metrics</a:t>
            </a:r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66DAAB81-7324-48F6-89B7-0F94EA3DD05A}"/>
              </a:ext>
            </a:extLst>
          </p:cNvPr>
          <p:cNvSpPr>
            <a:spLocks noGrp="1"/>
          </p:cNvSpPr>
          <p:nvPr/>
        </p:nvSpPr>
        <p:spPr>
          <a:xfrm>
            <a:off x="9848088" y="2450592"/>
            <a:ext cx="310896" cy="0"/>
          </a:xfrm>
          <a:prstGeom prst="line">
            <a:avLst/>
          </a:prstGeom>
          <a:ln w="31750">
            <a:solidFill>
              <a:srgbClr val="F29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6CBF0F7-751C-4D58-BD70-2EAD4438EF7D}"/>
              </a:ext>
            </a:extLst>
          </p:cNvPr>
          <p:cNvSpPr>
            <a:spLocks noGrp="1"/>
          </p:cNvSpPr>
          <p:nvPr/>
        </p:nvSpPr>
        <p:spPr>
          <a:xfrm>
            <a:off x="10195560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8A25F4-7B20-4557-97E9-CE991B24F74E}"/>
              </a:ext>
            </a:extLst>
          </p:cNvPr>
          <p:cNvSpPr>
            <a:spLocks noGrp="1"/>
          </p:cNvSpPr>
          <p:nvPr/>
        </p:nvSpPr>
        <p:spPr>
          <a:xfrm>
            <a:off x="10195560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ALERT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59A2A3-E4AD-486C-8C17-010E9AC25C3B}"/>
              </a:ext>
            </a:extLst>
          </p:cNvPr>
          <p:cNvSpPr>
            <a:spLocks noGrp="1"/>
          </p:cNvSpPr>
          <p:nvPr/>
        </p:nvSpPr>
        <p:spPr>
          <a:xfrm>
            <a:off x="10305288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Slack / logs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C0560-AD48-4677-92FA-F82841FF3B50}"/>
              </a:ext>
            </a:extLst>
          </p:cNvPr>
          <p:cNvSpPr>
            <a:spLocks noGrp="1"/>
          </p:cNvSpPr>
          <p:nvPr/>
        </p:nvSpPr>
        <p:spPr>
          <a:xfrm>
            <a:off x="777240" y="3886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ORCHESTRATION RESPONSIBILITIES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F31D91-6F3E-499D-B100-AD163BF26F65}"/>
              </a:ext>
            </a:extLst>
          </p:cNvPr>
          <p:cNvSpPr>
            <a:spLocks noGrp="1"/>
          </p:cNvSpPr>
          <p:nvPr/>
        </p:nvSpPr>
        <p:spPr>
          <a:xfrm>
            <a:off x="1325880" y="434340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Schedule daily execution and manage dependencies.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Trigger Databricks notebooks/jobs for each medallion layer.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Monitor task status and route failures to alerting.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Provide a repeatable, automated production workflow.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3EFDEA-F909-45EA-A794-56614BFE4548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F6FC80-18A6-4F1F-8C8B-10105B0F3714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918898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0EADC3-1F6F-4FE3-BE56-67751BEE4B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4BA84-7835-4DA5-BD13-5D4FD3A3CAC4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14 •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1B00A-12F2-4136-8DCE-58606D46B4B9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PyTest &amp; Data Validation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4037C-F1EB-4002-874F-E7E9F34123D7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67FEB-7B8A-40FA-841D-659625C6C4CF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BF077F-87B4-4DD2-9B11-717380E0B259}"/>
              </a:ext>
            </a:extLst>
          </p:cNvPr>
          <p:cNvSpPr>
            <a:spLocks noGrp="1"/>
          </p:cNvSpPr>
          <p:nvPr/>
        </p:nvSpPr>
        <p:spPr>
          <a:xfrm>
            <a:off x="1252728" y="1463040"/>
            <a:ext cx="658368" cy="658368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E17D7-5BBF-44E4-A733-5D54DE3B7D2B}"/>
              </a:ext>
            </a:extLst>
          </p:cNvPr>
          <p:cNvSpPr>
            <a:spLocks noGrp="1"/>
          </p:cNvSpPr>
          <p:nvPr/>
        </p:nvSpPr>
        <p:spPr>
          <a:xfrm>
            <a:off x="125272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60E3A-CC63-4DD7-8B89-9F847E275D80}"/>
              </a:ext>
            </a:extLst>
          </p:cNvPr>
          <p:cNvSpPr>
            <a:spLocks noGrp="1"/>
          </p:cNvSpPr>
          <p:nvPr/>
        </p:nvSpPr>
        <p:spPr>
          <a:xfrm>
            <a:off x="59436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TABLES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72F908-8409-4571-9B4E-247B099BC65D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Required tables created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EE3FB2-A311-4507-9727-900A4B4B60DA}"/>
              </a:ext>
            </a:extLst>
          </p:cNvPr>
          <p:cNvSpPr>
            <a:spLocks noGrp="1"/>
          </p:cNvSpPr>
          <p:nvPr/>
        </p:nvSpPr>
        <p:spPr>
          <a:xfrm>
            <a:off x="3493008" y="1463040"/>
            <a:ext cx="658368" cy="658368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0B61FB-1620-4D63-97C9-2AE68AECBA36}"/>
              </a:ext>
            </a:extLst>
          </p:cNvPr>
          <p:cNvSpPr>
            <a:spLocks noGrp="1"/>
          </p:cNvSpPr>
          <p:nvPr/>
        </p:nvSpPr>
        <p:spPr>
          <a:xfrm>
            <a:off x="349300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DEE77-7E8E-433F-A71A-08A551625041}"/>
              </a:ext>
            </a:extLst>
          </p:cNvPr>
          <p:cNvSpPr>
            <a:spLocks noGrp="1"/>
          </p:cNvSpPr>
          <p:nvPr/>
        </p:nvSpPr>
        <p:spPr>
          <a:xfrm>
            <a:off x="283464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COUNTS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CB4B7-F09D-4A98-AD89-E33B9A3AAC05}"/>
              </a:ext>
            </a:extLst>
          </p:cNvPr>
          <p:cNvSpPr>
            <a:spLocks noGrp="1"/>
          </p:cNvSpPr>
          <p:nvPr/>
        </p:nvSpPr>
        <p:spPr>
          <a:xfrm>
            <a:off x="288036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Outputs are non-empty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D91CFB7-83C2-488D-9485-BD3D987C1F81}"/>
              </a:ext>
            </a:extLst>
          </p:cNvPr>
          <p:cNvSpPr>
            <a:spLocks noGrp="1"/>
          </p:cNvSpPr>
          <p:nvPr/>
        </p:nvSpPr>
        <p:spPr>
          <a:xfrm>
            <a:off x="5733288" y="1463040"/>
            <a:ext cx="658368" cy="658368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498BE-794B-4821-981A-2FCBD001EC68}"/>
              </a:ext>
            </a:extLst>
          </p:cNvPr>
          <p:cNvSpPr>
            <a:spLocks noGrp="1"/>
          </p:cNvSpPr>
          <p:nvPr/>
        </p:nvSpPr>
        <p:spPr>
          <a:xfrm>
            <a:off x="573328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5DA8A5-6ADA-4EA2-8ECF-9D07237B7E0D}"/>
              </a:ext>
            </a:extLst>
          </p:cNvPr>
          <p:cNvSpPr>
            <a:spLocks noGrp="1"/>
          </p:cNvSpPr>
          <p:nvPr/>
        </p:nvSpPr>
        <p:spPr>
          <a:xfrm>
            <a:off x="507492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SCHEMA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AD96E9-E51E-43A4-9B5F-D4E4E06F0A9F}"/>
              </a:ext>
            </a:extLst>
          </p:cNvPr>
          <p:cNvSpPr>
            <a:spLocks noGrp="1"/>
          </p:cNvSpPr>
          <p:nvPr/>
        </p:nvSpPr>
        <p:spPr>
          <a:xfrm>
            <a:off x="512064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Columns &amp; types validated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354DF5-4A76-4B5E-99F5-CE805941902A}"/>
              </a:ext>
            </a:extLst>
          </p:cNvPr>
          <p:cNvSpPr>
            <a:spLocks noGrp="1"/>
          </p:cNvSpPr>
          <p:nvPr/>
        </p:nvSpPr>
        <p:spPr>
          <a:xfrm>
            <a:off x="7973568" y="1463040"/>
            <a:ext cx="658368" cy="658368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0E10F8-370F-49F9-9FAC-5BBE6B1BBF4B}"/>
              </a:ext>
            </a:extLst>
          </p:cNvPr>
          <p:cNvSpPr>
            <a:spLocks noGrp="1"/>
          </p:cNvSpPr>
          <p:nvPr/>
        </p:nvSpPr>
        <p:spPr>
          <a:xfrm>
            <a:off x="797356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EA11F6-0425-4643-8215-DA570B8A5687}"/>
              </a:ext>
            </a:extLst>
          </p:cNvPr>
          <p:cNvSpPr>
            <a:spLocks noGrp="1"/>
          </p:cNvSpPr>
          <p:nvPr/>
        </p:nvSpPr>
        <p:spPr>
          <a:xfrm>
            <a:off x="731520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DUPLICATES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ABB515-5C54-4FD2-B7FF-75A2810C48EB}"/>
              </a:ext>
            </a:extLst>
          </p:cNvPr>
          <p:cNvSpPr>
            <a:spLocks noGrp="1"/>
          </p:cNvSpPr>
          <p:nvPr/>
        </p:nvSpPr>
        <p:spPr>
          <a:xfrm>
            <a:off x="736092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Duplicate detection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C65EC6-F1E9-4057-90F7-B6D8E7278A00}"/>
              </a:ext>
            </a:extLst>
          </p:cNvPr>
          <p:cNvSpPr>
            <a:spLocks noGrp="1"/>
          </p:cNvSpPr>
          <p:nvPr/>
        </p:nvSpPr>
        <p:spPr>
          <a:xfrm>
            <a:off x="10213848" y="1463040"/>
            <a:ext cx="658368" cy="658368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1E4A75-F97C-4D27-A3BC-164ED0FC864B}"/>
              </a:ext>
            </a:extLst>
          </p:cNvPr>
          <p:cNvSpPr>
            <a:spLocks noGrp="1"/>
          </p:cNvSpPr>
          <p:nvPr/>
        </p:nvSpPr>
        <p:spPr>
          <a:xfrm>
            <a:off x="1021384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94573D-EDBE-419C-875F-D828F9A2770C}"/>
              </a:ext>
            </a:extLst>
          </p:cNvPr>
          <p:cNvSpPr>
            <a:spLocks noGrp="1"/>
          </p:cNvSpPr>
          <p:nvPr/>
        </p:nvSpPr>
        <p:spPr>
          <a:xfrm>
            <a:off x="955548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VALUES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6F92FE-7EC5-4710-91DF-71D65FCC507E}"/>
              </a:ext>
            </a:extLst>
          </p:cNvPr>
          <p:cNvSpPr>
            <a:spLocks noGrp="1"/>
          </p:cNvSpPr>
          <p:nvPr/>
        </p:nvSpPr>
        <p:spPr>
          <a:xfrm>
            <a:off x="960120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Invalid values filtered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1E5FF5B-25E1-4561-AD0A-EE9DE320FAA1}"/>
              </a:ext>
            </a:extLst>
          </p:cNvPr>
          <p:cNvSpPr>
            <a:spLocks noGrp="1"/>
          </p:cNvSpPr>
          <p:nvPr/>
        </p:nvSpPr>
        <p:spPr>
          <a:xfrm>
            <a:off x="1828800" y="3886200"/>
            <a:ext cx="8503920" cy="10058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D431BE-2BFA-45FA-B543-7579B1932817}"/>
              </a:ext>
            </a:extLst>
          </p:cNvPr>
          <p:cNvSpPr>
            <a:spLocks noGrp="1"/>
          </p:cNvSpPr>
          <p:nvPr/>
        </p:nvSpPr>
        <p:spPr>
          <a:xfrm>
            <a:off x="1828800" y="4133087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QA GATE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AC3B0B-CFA8-4DE6-8C98-B8A623A33C6B}"/>
              </a:ext>
            </a:extLst>
          </p:cNvPr>
          <p:cNvSpPr>
            <a:spLocks noGrp="1"/>
          </p:cNvSpPr>
          <p:nvPr/>
        </p:nvSpPr>
        <p:spPr>
          <a:xfrm>
            <a:off x="1828800" y="445312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Only validated datasets move forward to analytics consumption.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F8A250-2238-43D7-B82A-DC72C3CAB3A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503BA3-BF52-430A-89C1-E63278A5407E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1457239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4DD84-FA9F-4AFE-9057-7BE6605D5A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0EBCC-DB0F-4563-A472-DA9AB72CB188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15 • TECHNOLOGY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BCE9-9B28-4AB8-92B1-945B6FDD9F65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Tools &amp; Technologies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BB591-CFE1-4039-AA9A-577C14FFE56D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4AD02-32B2-403D-BF81-5F3C5AD51227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FA8515-65E1-416A-A16E-2D992A406B4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DD4E6B-BF47-4E60-BF89-51AC706BC769}"/>
              </a:ext>
            </a:extLst>
          </p:cNvPr>
          <p:cNvSpPr>
            <a:spLocks noGrp="1"/>
          </p:cNvSpPr>
          <p:nvPr/>
        </p:nvSpPr>
        <p:spPr>
          <a:xfrm>
            <a:off x="841247" y="1709928"/>
            <a:ext cx="502920" cy="50292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7BD1B-A505-4281-A615-128F04A69BF3}"/>
              </a:ext>
            </a:extLst>
          </p:cNvPr>
          <p:cNvSpPr>
            <a:spLocks noGrp="1"/>
          </p:cNvSpPr>
          <p:nvPr/>
        </p:nvSpPr>
        <p:spPr>
          <a:xfrm>
            <a:off x="841247" y="17190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3E20E-9509-41FB-BCA0-E14A32D98AF7}"/>
              </a:ext>
            </a:extLst>
          </p:cNvPr>
          <p:cNvSpPr>
            <a:spLocks noGrp="1"/>
          </p:cNvSpPr>
          <p:nvPr/>
        </p:nvSpPr>
        <p:spPr>
          <a:xfrm>
            <a:off x="1536192" y="1645920"/>
            <a:ext cx="224028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ADLS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A85ED-A213-43BE-8684-9443E850C77F}"/>
              </a:ext>
            </a:extLst>
          </p:cNvPr>
          <p:cNvSpPr>
            <a:spLocks noGrp="1"/>
          </p:cNvSpPr>
          <p:nvPr/>
        </p:nvSpPr>
        <p:spPr>
          <a:xfrm>
            <a:off x="1536192" y="203911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Cloud storage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7A54B35-C4A0-4FA2-AD28-57D0744CE85E}"/>
              </a:ext>
            </a:extLst>
          </p:cNvPr>
          <p:cNvSpPr>
            <a:spLocks noGrp="1"/>
          </p:cNvSpPr>
          <p:nvPr/>
        </p:nvSpPr>
        <p:spPr>
          <a:xfrm>
            <a:off x="4434840" y="1417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8E5232-3220-47ED-8754-46F0F4045DE4}"/>
              </a:ext>
            </a:extLst>
          </p:cNvPr>
          <p:cNvSpPr>
            <a:spLocks noGrp="1"/>
          </p:cNvSpPr>
          <p:nvPr/>
        </p:nvSpPr>
        <p:spPr>
          <a:xfrm>
            <a:off x="4636008" y="1709928"/>
            <a:ext cx="502920" cy="502920"/>
          </a:xfrm>
          <a:prstGeom prst="ellipse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D32589-8AD5-4F57-AC61-5E4DF8AEFDC7}"/>
              </a:ext>
            </a:extLst>
          </p:cNvPr>
          <p:cNvSpPr>
            <a:spLocks noGrp="1"/>
          </p:cNvSpPr>
          <p:nvPr/>
        </p:nvSpPr>
        <p:spPr>
          <a:xfrm>
            <a:off x="4636008" y="17190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2957F8-8D47-4D36-8253-CDEF72AAD09B}"/>
              </a:ext>
            </a:extLst>
          </p:cNvPr>
          <p:cNvSpPr>
            <a:spLocks noGrp="1"/>
          </p:cNvSpPr>
          <p:nvPr/>
        </p:nvSpPr>
        <p:spPr>
          <a:xfrm>
            <a:off x="5330952" y="1645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ADF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F6C49-EB93-496C-802F-A887A9462741}"/>
              </a:ext>
            </a:extLst>
          </p:cNvPr>
          <p:cNvSpPr>
            <a:spLocks noGrp="1"/>
          </p:cNvSpPr>
          <p:nvPr/>
        </p:nvSpPr>
        <p:spPr>
          <a:xfrm>
            <a:off x="5330952" y="203911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Data ingestion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178B49-EE5B-4E51-9D42-3BCC59B66560}"/>
              </a:ext>
            </a:extLst>
          </p:cNvPr>
          <p:cNvSpPr>
            <a:spLocks noGrp="1"/>
          </p:cNvSpPr>
          <p:nvPr/>
        </p:nvSpPr>
        <p:spPr>
          <a:xfrm>
            <a:off x="8229600" y="1417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36D12C-9220-469D-9596-47B6ABE0FD38}"/>
              </a:ext>
            </a:extLst>
          </p:cNvPr>
          <p:cNvSpPr>
            <a:spLocks noGrp="1"/>
          </p:cNvSpPr>
          <p:nvPr/>
        </p:nvSpPr>
        <p:spPr>
          <a:xfrm>
            <a:off x="8430768" y="1709928"/>
            <a:ext cx="502920" cy="50292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CC3402-8CDE-4385-9C44-213DBC27A375}"/>
              </a:ext>
            </a:extLst>
          </p:cNvPr>
          <p:cNvSpPr>
            <a:spLocks noGrp="1"/>
          </p:cNvSpPr>
          <p:nvPr/>
        </p:nvSpPr>
        <p:spPr>
          <a:xfrm>
            <a:off x="8430768" y="17190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325E6B-1930-48DF-8127-5F65ACE13654}"/>
              </a:ext>
            </a:extLst>
          </p:cNvPr>
          <p:cNvSpPr>
            <a:spLocks noGrp="1"/>
          </p:cNvSpPr>
          <p:nvPr/>
        </p:nvSpPr>
        <p:spPr>
          <a:xfrm>
            <a:off x="9125712" y="1645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Databricks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52628D-49C2-4D51-93A4-0CC7DEB2ABB1}"/>
              </a:ext>
            </a:extLst>
          </p:cNvPr>
          <p:cNvSpPr>
            <a:spLocks noGrp="1"/>
          </p:cNvSpPr>
          <p:nvPr/>
        </p:nvSpPr>
        <p:spPr>
          <a:xfrm>
            <a:off x="9125712" y="203911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Processing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DEE76B0-2789-42A9-A0EF-F1A661F3733D}"/>
              </a:ext>
            </a:extLst>
          </p:cNvPr>
          <p:cNvSpPr>
            <a:spLocks noGrp="1"/>
          </p:cNvSpPr>
          <p:nvPr/>
        </p:nvSpPr>
        <p:spPr>
          <a:xfrm>
            <a:off x="640080" y="29260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6926FB-893B-4570-8780-B79C1B18E472}"/>
              </a:ext>
            </a:extLst>
          </p:cNvPr>
          <p:cNvSpPr>
            <a:spLocks noGrp="1"/>
          </p:cNvSpPr>
          <p:nvPr/>
        </p:nvSpPr>
        <p:spPr>
          <a:xfrm>
            <a:off x="841247" y="3218688"/>
            <a:ext cx="502920" cy="50292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7C1C76-FA69-4B09-BE4A-DE37F38FBB5D}"/>
              </a:ext>
            </a:extLst>
          </p:cNvPr>
          <p:cNvSpPr>
            <a:spLocks noGrp="1"/>
          </p:cNvSpPr>
          <p:nvPr/>
        </p:nvSpPr>
        <p:spPr>
          <a:xfrm>
            <a:off x="841247" y="322783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5B28E7-D77B-4C93-A7DE-25170CCE7202}"/>
              </a:ext>
            </a:extLst>
          </p:cNvPr>
          <p:cNvSpPr>
            <a:spLocks noGrp="1"/>
          </p:cNvSpPr>
          <p:nvPr/>
        </p:nvSpPr>
        <p:spPr>
          <a:xfrm>
            <a:off x="1536192" y="3154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PySpark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2C4D53-F86E-4568-846F-6AE1CCE05B62}"/>
              </a:ext>
            </a:extLst>
          </p:cNvPr>
          <p:cNvSpPr>
            <a:spLocks noGrp="1"/>
          </p:cNvSpPr>
          <p:nvPr/>
        </p:nvSpPr>
        <p:spPr>
          <a:xfrm>
            <a:off x="1536192" y="354787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Transformations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18E4B96-FB43-40CB-83AA-F541BBE7018B}"/>
              </a:ext>
            </a:extLst>
          </p:cNvPr>
          <p:cNvSpPr>
            <a:spLocks noGrp="1"/>
          </p:cNvSpPr>
          <p:nvPr/>
        </p:nvSpPr>
        <p:spPr>
          <a:xfrm>
            <a:off x="4434840" y="29260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21D899-AD3E-4735-ADC5-17670B7FF99D}"/>
              </a:ext>
            </a:extLst>
          </p:cNvPr>
          <p:cNvSpPr>
            <a:spLocks noGrp="1"/>
          </p:cNvSpPr>
          <p:nvPr/>
        </p:nvSpPr>
        <p:spPr>
          <a:xfrm>
            <a:off x="4636008" y="3218688"/>
            <a:ext cx="502920" cy="50292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B286F4-4E69-4C48-A197-24CBA06748FB}"/>
              </a:ext>
            </a:extLst>
          </p:cNvPr>
          <p:cNvSpPr>
            <a:spLocks noGrp="1"/>
          </p:cNvSpPr>
          <p:nvPr/>
        </p:nvSpPr>
        <p:spPr>
          <a:xfrm>
            <a:off x="4636008" y="322783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B9B748-8E0F-47D7-A99F-6CA43EA59036}"/>
              </a:ext>
            </a:extLst>
          </p:cNvPr>
          <p:cNvSpPr>
            <a:spLocks noGrp="1"/>
          </p:cNvSpPr>
          <p:nvPr/>
        </p:nvSpPr>
        <p:spPr>
          <a:xfrm>
            <a:off x="5330952" y="3154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Delta Lake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1FB6CC-CE3B-46A9-8206-1CCFE92536DC}"/>
              </a:ext>
            </a:extLst>
          </p:cNvPr>
          <p:cNvSpPr>
            <a:spLocks noGrp="1"/>
          </p:cNvSpPr>
          <p:nvPr/>
        </p:nvSpPr>
        <p:spPr>
          <a:xfrm>
            <a:off x="5330952" y="354787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Reliable tables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F9E0CA6-1FD2-407A-9C1E-2B84F36B17FB}"/>
              </a:ext>
            </a:extLst>
          </p:cNvPr>
          <p:cNvSpPr>
            <a:spLocks noGrp="1"/>
          </p:cNvSpPr>
          <p:nvPr/>
        </p:nvSpPr>
        <p:spPr>
          <a:xfrm>
            <a:off x="8229600" y="29260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854E6C3-683C-46AB-873D-B6F32C1CA840}"/>
              </a:ext>
            </a:extLst>
          </p:cNvPr>
          <p:cNvSpPr>
            <a:spLocks noGrp="1"/>
          </p:cNvSpPr>
          <p:nvPr/>
        </p:nvSpPr>
        <p:spPr>
          <a:xfrm>
            <a:off x="8430768" y="3218688"/>
            <a:ext cx="502920" cy="50292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0F31A9-13EC-45AA-9DFD-CC1007BDA630}"/>
              </a:ext>
            </a:extLst>
          </p:cNvPr>
          <p:cNvSpPr>
            <a:spLocks noGrp="1"/>
          </p:cNvSpPr>
          <p:nvPr/>
        </p:nvSpPr>
        <p:spPr>
          <a:xfrm>
            <a:off x="8430768" y="322783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3A8156-CD06-417A-88C7-82FCB94808C7}"/>
              </a:ext>
            </a:extLst>
          </p:cNvPr>
          <p:cNvSpPr>
            <a:spLocks noGrp="1"/>
          </p:cNvSpPr>
          <p:nvPr/>
        </p:nvSpPr>
        <p:spPr>
          <a:xfrm>
            <a:off x="9125712" y="3154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dbt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1A2D37-F6CD-4AE4-9D45-E484AFA8BB06}"/>
              </a:ext>
            </a:extLst>
          </p:cNvPr>
          <p:cNvSpPr>
            <a:spLocks noGrp="1"/>
          </p:cNvSpPr>
          <p:nvPr/>
        </p:nvSpPr>
        <p:spPr>
          <a:xfrm>
            <a:off x="9125712" y="354787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SQL models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770A2A5-E4EB-453E-89A3-3F6F1F7E9AB2}"/>
              </a:ext>
            </a:extLst>
          </p:cNvPr>
          <p:cNvSpPr>
            <a:spLocks noGrp="1"/>
          </p:cNvSpPr>
          <p:nvPr/>
        </p:nvSpPr>
        <p:spPr>
          <a:xfrm>
            <a:off x="640080" y="44348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4BF9552-E620-457B-8C63-CEC40F6C8500}"/>
              </a:ext>
            </a:extLst>
          </p:cNvPr>
          <p:cNvSpPr>
            <a:spLocks noGrp="1"/>
          </p:cNvSpPr>
          <p:nvPr/>
        </p:nvSpPr>
        <p:spPr>
          <a:xfrm>
            <a:off x="841247" y="4727448"/>
            <a:ext cx="502920" cy="50292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C53378-7DB7-4332-AA18-788379AFB3E6}"/>
              </a:ext>
            </a:extLst>
          </p:cNvPr>
          <p:cNvSpPr>
            <a:spLocks noGrp="1"/>
          </p:cNvSpPr>
          <p:nvPr/>
        </p:nvSpPr>
        <p:spPr>
          <a:xfrm>
            <a:off x="841247" y="47365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1539A2-1777-4DE1-9831-C6F0E73D1977}"/>
              </a:ext>
            </a:extLst>
          </p:cNvPr>
          <p:cNvSpPr>
            <a:spLocks noGrp="1"/>
          </p:cNvSpPr>
          <p:nvPr/>
        </p:nvSpPr>
        <p:spPr>
          <a:xfrm>
            <a:off x="1536192" y="466344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Airflow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E86979-F065-4615-AB18-B5C538785E54}"/>
              </a:ext>
            </a:extLst>
          </p:cNvPr>
          <p:cNvSpPr>
            <a:spLocks noGrp="1"/>
          </p:cNvSpPr>
          <p:nvPr/>
        </p:nvSpPr>
        <p:spPr>
          <a:xfrm>
            <a:off x="1536192" y="5056631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Orchestration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0B0F720-3050-4DD8-93C2-8CD62E5B476E}"/>
              </a:ext>
            </a:extLst>
          </p:cNvPr>
          <p:cNvSpPr>
            <a:spLocks noGrp="1"/>
          </p:cNvSpPr>
          <p:nvPr/>
        </p:nvSpPr>
        <p:spPr>
          <a:xfrm>
            <a:off x="4434840" y="44348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FBE6962-536B-4BB8-BC5B-01A5290B0F60}"/>
              </a:ext>
            </a:extLst>
          </p:cNvPr>
          <p:cNvSpPr>
            <a:spLocks noGrp="1"/>
          </p:cNvSpPr>
          <p:nvPr/>
        </p:nvSpPr>
        <p:spPr>
          <a:xfrm>
            <a:off x="4636008" y="4727448"/>
            <a:ext cx="502920" cy="50292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A4786B-864B-4729-8B99-09BD9E641CC5}"/>
              </a:ext>
            </a:extLst>
          </p:cNvPr>
          <p:cNvSpPr>
            <a:spLocks noGrp="1"/>
          </p:cNvSpPr>
          <p:nvPr/>
        </p:nvSpPr>
        <p:spPr>
          <a:xfrm>
            <a:off x="4636008" y="47365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765E52-F1C1-44B1-ABF7-E84AA99F0AB3}"/>
              </a:ext>
            </a:extLst>
          </p:cNvPr>
          <p:cNvSpPr>
            <a:spLocks noGrp="1"/>
          </p:cNvSpPr>
          <p:nvPr/>
        </p:nvSpPr>
        <p:spPr>
          <a:xfrm>
            <a:off x="5330952" y="466344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PyTest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07AB82-0161-4B82-B6D7-5029E82BE5C3}"/>
              </a:ext>
            </a:extLst>
          </p:cNvPr>
          <p:cNvSpPr>
            <a:spLocks noGrp="1"/>
          </p:cNvSpPr>
          <p:nvPr/>
        </p:nvSpPr>
        <p:spPr>
          <a:xfrm>
            <a:off x="5330952" y="5056631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Testing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CAF7CA1-7A29-45DA-B48F-B4C3C5DFBE24}"/>
              </a:ext>
            </a:extLst>
          </p:cNvPr>
          <p:cNvSpPr>
            <a:spLocks noGrp="1"/>
          </p:cNvSpPr>
          <p:nvPr/>
        </p:nvSpPr>
        <p:spPr>
          <a:xfrm>
            <a:off x="8229600" y="44348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91E15B6-23C5-4F0D-9380-291A010AFC14}"/>
              </a:ext>
            </a:extLst>
          </p:cNvPr>
          <p:cNvSpPr>
            <a:spLocks noGrp="1"/>
          </p:cNvSpPr>
          <p:nvPr/>
        </p:nvSpPr>
        <p:spPr>
          <a:xfrm>
            <a:off x="8430768" y="4727448"/>
            <a:ext cx="502920" cy="50292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2E0D1B-EC78-47C6-932F-BFCA83FA819C}"/>
              </a:ext>
            </a:extLst>
          </p:cNvPr>
          <p:cNvSpPr>
            <a:spLocks noGrp="1"/>
          </p:cNvSpPr>
          <p:nvPr/>
        </p:nvSpPr>
        <p:spPr>
          <a:xfrm>
            <a:off x="8430768" y="47365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C2C381-EEAA-4BD0-B29E-036AE2DF7EA3}"/>
              </a:ext>
            </a:extLst>
          </p:cNvPr>
          <p:cNvSpPr>
            <a:spLocks noGrp="1"/>
          </p:cNvSpPr>
          <p:nvPr/>
        </p:nvSpPr>
        <p:spPr>
          <a:xfrm>
            <a:off x="9125712" y="466344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Slack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6978F3-7384-4833-B910-3E2E0835766D}"/>
              </a:ext>
            </a:extLst>
          </p:cNvPr>
          <p:cNvSpPr>
            <a:spLocks noGrp="1"/>
          </p:cNvSpPr>
          <p:nvPr/>
        </p:nvSpPr>
        <p:spPr>
          <a:xfrm>
            <a:off x="9125712" y="5056631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Alerts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A37AC5-F6D6-4AE1-8B28-C295ED781DA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DC4875-3989-423B-8699-370BF40B41E2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95115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A6EFB0-E749-4938-A82F-C8644FF831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DB38D-073A-4F9E-9DE8-651BC2CD5E57}"/>
              </a:ext>
            </a:extLst>
          </p:cNvPr>
          <p:cNvSpPr>
            <a:spLocks noGrp="1"/>
          </p:cNvSpPr>
          <p:nvPr/>
        </p:nvSpPr>
        <p:spPr>
          <a:xfrm>
            <a:off x="685800" y="50292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FINAL • BUSINESS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EF082-4280-4482-B47A-C760321766F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Business 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B16BA-F24F-4A5A-AB66-D3064EB7B0CC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700" b="0">
                <a:solidFill>
                  <a:srgbClr val="DCE8F3"/>
                </a:solidFill>
                <a:latin typeface="Aptos"/>
                <a:ea typeface="Aptos"/>
                <a:cs typeface="Aptos"/>
              </a:defRPr>
            </a:pPr>
            <a:r>
              <a:t>A scalable, automated grocery data platform that turns raw retail data into trusted business insights.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5062B2-79D9-43E0-AB87-1FAE6072E7A5}"/>
              </a:ext>
            </a:extLst>
          </p:cNvPr>
          <p:cNvSpPr>
            <a:spLocks noGrp="1"/>
          </p:cNvSpPr>
          <p:nvPr/>
        </p:nvSpPr>
        <p:spPr>
          <a:xfrm>
            <a:off x="749808" y="2697480"/>
            <a:ext cx="320040" cy="32004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14A43-A11E-4F32-AF48-DD3621DD8D95}"/>
              </a:ext>
            </a:extLst>
          </p:cNvPr>
          <p:cNvSpPr>
            <a:spLocks noGrp="1"/>
          </p:cNvSpPr>
          <p:nvPr/>
        </p:nvSpPr>
        <p:spPr>
          <a:xfrm>
            <a:off x="749808" y="2706624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DCD85-B5D8-4471-9A68-F9A0BDCB8A70}"/>
              </a:ext>
            </a:extLst>
          </p:cNvPr>
          <p:cNvSpPr>
            <a:spLocks noGrp="1"/>
          </p:cNvSpPr>
          <p:nvPr/>
        </p:nvSpPr>
        <p:spPr>
          <a:xfrm>
            <a:off x="1261872" y="26791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Scalable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20150-5E0B-411E-919D-E5CF09918427}"/>
              </a:ext>
            </a:extLst>
          </p:cNvPr>
          <p:cNvSpPr>
            <a:spLocks noGrp="1"/>
          </p:cNvSpPr>
          <p:nvPr/>
        </p:nvSpPr>
        <p:spPr>
          <a:xfrm>
            <a:off x="2971800" y="2679192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Supports daily retail data processing.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82842F-6081-4787-883E-CEC932FECFDE}"/>
              </a:ext>
            </a:extLst>
          </p:cNvPr>
          <p:cNvSpPr>
            <a:spLocks noGrp="1"/>
          </p:cNvSpPr>
          <p:nvPr/>
        </p:nvSpPr>
        <p:spPr>
          <a:xfrm>
            <a:off x="749808" y="3264408"/>
            <a:ext cx="320040" cy="32004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2B4D7-35FB-45C8-8E5D-82407AD5B278}"/>
              </a:ext>
            </a:extLst>
          </p:cNvPr>
          <p:cNvSpPr>
            <a:spLocks noGrp="1"/>
          </p:cNvSpPr>
          <p:nvPr/>
        </p:nvSpPr>
        <p:spPr>
          <a:xfrm>
            <a:off x="749808" y="3273552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313D8-8624-4EDE-9F3B-95256CDCDED5}"/>
              </a:ext>
            </a:extLst>
          </p:cNvPr>
          <p:cNvSpPr>
            <a:spLocks noGrp="1"/>
          </p:cNvSpPr>
          <p:nvPr/>
        </p:nvSpPr>
        <p:spPr>
          <a:xfrm>
            <a:off x="1261872" y="32461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Reliable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80178-BAD3-4CC1-8478-E42DF9E9E0F9}"/>
              </a:ext>
            </a:extLst>
          </p:cNvPr>
          <p:cNvSpPr>
            <a:spLocks noGrp="1"/>
          </p:cNvSpPr>
          <p:nvPr/>
        </p:nvSpPr>
        <p:spPr>
          <a:xfrm>
            <a:off x="2971800" y="3246120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Improves data quality and traceability.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480765-CBF8-4755-A21B-AEAE2B124A00}"/>
              </a:ext>
            </a:extLst>
          </p:cNvPr>
          <p:cNvSpPr>
            <a:spLocks noGrp="1"/>
          </p:cNvSpPr>
          <p:nvPr/>
        </p:nvSpPr>
        <p:spPr>
          <a:xfrm>
            <a:off x="749808" y="3831336"/>
            <a:ext cx="320040" cy="32004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0ED4A-2336-4B5A-B81B-7D6E93CE8D8E}"/>
              </a:ext>
            </a:extLst>
          </p:cNvPr>
          <p:cNvSpPr>
            <a:spLocks noGrp="1"/>
          </p:cNvSpPr>
          <p:nvPr/>
        </p:nvSpPr>
        <p:spPr>
          <a:xfrm>
            <a:off x="749808" y="3840480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3CFE1F-4231-4B8F-B339-05D9331C1C87}"/>
              </a:ext>
            </a:extLst>
          </p:cNvPr>
          <p:cNvSpPr>
            <a:spLocks noGrp="1"/>
          </p:cNvSpPr>
          <p:nvPr/>
        </p:nvSpPr>
        <p:spPr>
          <a:xfrm>
            <a:off x="1261872" y="38130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Actionable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17BB29-3A1F-458C-A45E-838340823C8B}"/>
              </a:ext>
            </a:extLst>
          </p:cNvPr>
          <p:cNvSpPr>
            <a:spLocks noGrp="1"/>
          </p:cNvSpPr>
          <p:nvPr/>
        </p:nvSpPr>
        <p:spPr>
          <a:xfrm>
            <a:off x="2971800" y="3813048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Produces sales, inventory and customer metrics for analytics.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D07653-5E99-4070-8025-9D27F43CED70}"/>
              </a:ext>
            </a:extLst>
          </p:cNvPr>
          <p:cNvSpPr>
            <a:spLocks noGrp="1"/>
          </p:cNvSpPr>
          <p:nvPr/>
        </p:nvSpPr>
        <p:spPr>
          <a:xfrm>
            <a:off x="749808" y="4398264"/>
            <a:ext cx="320040" cy="32004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9D5C0A-4119-4099-85F0-36D0C12F7FA6}"/>
              </a:ext>
            </a:extLst>
          </p:cNvPr>
          <p:cNvSpPr>
            <a:spLocks noGrp="1"/>
          </p:cNvSpPr>
          <p:nvPr/>
        </p:nvSpPr>
        <p:spPr>
          <a:xfrm>
            <a:off x="749808" y="4407408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3B345-F5D5-42AE-BA72-B864DBFDB59C}"/>
              </a:ext>
            </a:extLst>
          </p:cNvPr>
          <p:cNvSpPr>
            <a:spLocks noGrp="1"/>
          </p:cNvSpPr>
          <p:nvPr/>
        </p:nvSpPr>
        <p:spPr>
          <a:xfrm>
            <a:off x="1261872" y="437997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Automated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EE083-D461-45C9-8B5A-F654E4C08DF6}"/>
              </a:ext>
            </a:extLst>
          </p:cNvPr>
          <p:cNvSpPr>
            <a:spLocks noGrp="1"/>
          </p:cNvSpPr>
          <p:nvPr/>
        </p:nvSpPr>
        <p:spPr>
          <a:xfrm>
            <a:off x="2971800" y="4379976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Reduces manual monitoring and operational effort.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CDCE5A-7615-4541-BC32-8D11EFFABCE7}"/>
              </a:ext>
            </a:extLst>
          </p:cNvPr>
          <p:cNvSpPr>
            <a:spLocks noGrp="1"/>
          </p:cNvSpPr>
          <p:nvPr/>
        </p:nvSpPr>
        <p:spPr>
          <a:xfrm>
            <a:off x="749808" y="4965192"/>
            <a:ext cx="320040" cy="32004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700AD2-D6D7-437C-A92E-1288FDA8A771}"/>
              </a:ext>
            </a:extLst>
          </p:cNvPr>
          <p:cNvSpPr>
            <a:spLocks noGrp="1"/>
          </p:cNvSpPr>
          <p:nvPr/>
        </p:nvSpPr>
        <p:spPr>
          <a:xfrm>
            <a:off x="749808" y="4974336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E64C66-298B-45EB-B47B-76DFBE961826}"/>
              </a:ext>
            </a:extLst>
          </p:cNvPr>
          <p:cNvSpPr>
            <a:spLocks noGrp="1"/>
          </p:cNvSpPr>
          <p:nvPr/>
        </p:nvSpPr>
        <p:spPr>
          <a:xfrm>
            <a:off x="1261872" y="494690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Extensible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0363DD-1AEA-4F24-B3F4-3113B06F5357}"/>
              </a:ext>
            </a:extLst>
          </p:cNvPr>
          <p:cNvSpPr>
            <a:spLocks noGrp="1"/>
          </p:cNvSpPr>
          <p:nvPr/>
        </p:nvSpPr>
        <p:spPr>
          <a:xfrm>
            <a:off x="2971800" y="4946904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Ready for additional datasets and predictive use cases.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0E237E-A4EE-422C-9320-1C049C2A6399}"/>
              </a:ext>
            </a:extLst>
          </p:cNvPr>
          <p:cNvSpPr>
            <a:spLocks noGrp="1"/>
          </p:cNvSpPr>
          <p:nvPr/>
        </p:nvSpPr>
        <p:spPr>
          <a:xfrm>
            <a:off x="685800" y="5806440"/>
            <a:ext cx="10698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5D699F-86DB-4723-986E-990657656CF5}"/>
              </a:ext>
            </a:extLst>
          </p:cNvPr>
          <p:cNvSpPr>
            <a:spLocks noGrp="1"/>
          </p:cNvSpPr>
          <p:nvPr/>
        </p:nvSpPr>
        <p:spPr>
          <a:xfrm>
            <a:off x="685800" y="595274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RAW  →  TRUSTED  →  ANALYTICS  → 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0830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Microsoft Office PowerPoint</Application>
  <DocSecurity>0</DocSecurity>
  <PresentationFormat>Widescreen</PresentationFormat>
  <Paragraphs>353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Mandepudi Sri Hema</cp:lastModifiedBy>
  <cp:revision>1</cp:revision>
  <dcterms:created xsi:type="dcterms:W3CDTF">2026-09-07T16:43:13Z</dcterms:created>
  <dcterms:modified xsi:type="dcterms:W3CDTF">2026-09-07T16:52:44Z</dcterms:modified>
</cp:coreProperties>
</file>